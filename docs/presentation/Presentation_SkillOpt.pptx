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6" r:id="rId4"/>
    <p:sldId id="267" r:id="rId5"/>
    <p:sldId id="268" r:id="rId6"/>
    <p:sldId id="269" r:id="rId7"/>
    <p:sldId id="270" r:id="rId8"/>
    <p:sldId id="271" r:id="rId9"/>
    <p:sldId id="272" r:id="rId10"/>
    <p:sldId id="273" r:id="rId11"/>
    <p:sldId id="274" r:id="rId12"/>
    <p:sldId id="275" r:id="rId13"/>
    <p:sldId id="276" r:id="rId14"/>
    <p:sldId id="278" r:id="rId15"/>
    <p:sldId id="27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31T00:42:43.933"/>
    </inkml:context>
    <inkml:brush xml:id="br0">
      <inkml:brushProperty name="width" value="0.035" units="cm"/>
      <inkml:brushProperty name="height" value="0.035" units="cm"/>
      <inkml:brushProperty name="color" value="#E71224"/>
    </inkml:brush>
  </inkml:definitions>
  <inkml:trace contextRef="#ctx0" brushRef="#br0">625 2001 24575,'26'-24'0,"2"2"0,58-37 0,134-92 0,-199 136 0,-7 5 0,3-2 0,0 0 0,22-10 0,-10 6 0,-2-1 0,30-22 0,10-8 0,54-36 0,111-69 0,-125 85 0,-67 40 0,1 2 0,52-23 0,-1 2 0,-60 28 0,1 2 0,37-12 0,-48 19 0,-1 0 0,28-17 0,-27 14 0,43-17 0,98-37 0,-2-5 0,-127 58 0,-12 4 0,37-9 0,-33 11 0,-1-2 0,31-13 0,-29 10 0,45-13 0,8 0 0,-47 14 0,37-8 0,26-4 0,-54 11 0,51-6 0,-65 12 0,0 0 0,0-2 0,27-12 0,-24 9 0,60-15 0,72-13 0,-93 21 0,24-14 0,-72 23 0,0 1 0,0 1 0,1 1 0,25-3 0,-17 3-161,0 0 0,-1-2 0,39-15 0,6-1 216,-49 18-55,1 1 0,48-3 0,19-2 0,-46 1 0,0-1 0,1 2 0,52-1 0,-66 6-140,0-1 0,62-16 0,16-3-93,-52 14 281,-4 1 166,69-3-1,47-6-1572,-120 9 1469,75-15-352,-86 13 161,0 2 0,81-4-1,-97 12 209,-1-1 0,0-1 0,41-9 0,-18-1-101,0 3-1,0 2 1,83-2-1,-98 8-25,0-1 0,56-10 0,-57 8 0,63-2 0,-65 6 0,0-1 0,42-9 0,-8 1 322,0 2-1,1 4 1,89 5-1,-40 0-337,618-2-711,-707 1 930,1 2-1,30 6 1,-28-3-145,44 2 1,57-10 625,53 4-744,-109 10 60,10 0 0,1 2 0,-61-9 0,1-2 0,25 2 0,10-5 0,-39-1 0,0 0 0,1 2 0,-1 1 0,38 7 0,-19 0 0,61 6 0,-33-7 0,0 3-56,-8 0-321,109 4 1,-129-14 267,-1 2-1,0 1 0,-1 3 0,45 12 0,-47-12 132,0-1 0,60 2-1,25 3-983,126 31 962,-83-23 0,-128-16 0,7 3 0,0 2 0,50 16 0,-57-14 0,0-1 0,0-2 0,71 6 0,-72-10 197,1 0 0,-1 3 1,0 1-1,38 12 0,-63-16-276,9 1 162,-1-1 0,1-1 0,0-1 0,18-1 0,-18 0-90,1 1 0,-1 0 0,32 7 0,32 11 735,44 14-495,-103-27-233,1 0 0,-1-2 0,40 2 0,21 4 0,-19 4 0,-35-7 0,47 6 0,-44-9 0,1 2 0,-2 2 0,45 16 0,17 3 0,59 5 0,55 16 0,-143-25 0,-48-15 0,1-1 0,0-1 0,1-1 0,28 5 0,-2-4 0,46 13 0,-56-10 0,0-2 0,68 5 0,-73-9 0,0 1 0,-1 1 0,0 2 0,0 0 0,30 13 0,-1-1 0,-35-13 0,-1-1 0,26 1 0,5 2 0,21 7 0,-37-7 0,-1-1 0,56 3 0,-63-7 0,0 1 0,-1 1 0,0 1 0,36 14 0,-29-9 0,0-2 0,38 6 0,-31-8 0,-1 2 0,52 18 0,6 2 0,-25-14 0,-43-9 0,-1 0 0,32 13 0,-42-13 0,1-1 0,29 5 0,-30-7 0,0 0 0,-1 2 0,20 7 0,-24-6 0,10 5 0,0-2 0,1 0 0,40 7 0,-40-11 0,0 1 0,0 1 0,-1 2 0,0 0 0,0 2 0,-1 0 0,24 17 0,-13-5 0,64 47 0,91 82 0,-179-142 0,-1-1 0,0 2 0,11 14 0,2 1 0,23 19 0,-33-35 0,-1 1 0,-1 1 0,15 19 0,133 189 0,-81-116 0,-57-75 0,2 3 0,0 0 0,36 34 0,-51-57 0,-1 0 0,0 0 0,0 1 0,8 16 0,14 19 0,-7-18 0,-9-11 0,0 1 0,-1 0 0,0 0 0,8 20 0,6 11 0,6 13 0,-28-52 0,2 1 0,-1-2 0,1 1 0,0-1 0,1 0 0,10 10 0,6 8 0,-15-15 0,47 57 0,52 83 0,-84-105 0,-19-36 0,0 0 0,1-1 0,0 1 0,1-1 0,11 13 0,-9-11 0,0 0 0,-1 1 0,0 0 0,8 19 0,5 9 0,21 30 0,25 45 0,11 61 0,-68-153 0,0 1 0,-2 0 0,-1 0 0,-1 1 0,3 46 0,-7 130 0,-4-92 0,5-18 0,-4 102 0,-1-176 0,-1-1 0,0 0 0,-1 0 0,-1 0 0,-8 17 0,-12 35 0,16-37 0,-2-1 0,-1 0 0,-1-1 0,-35 53 0,18-40 0,-2-1 0,-1-2 0,-43 37 0,42-42 0,-22 12 0,41-30 0,-1-1 0,-1-1 0,0-1 0,0 0 0,-22 10 0,14-8 0,-47 36 0,58-39 0,-1-1 0,-28 15 0,29-18 0,0 1 0,0 0 0,-23 20 0,32-24 0,-1 0 0,1 0 0,-1-1 0,-1 0 0,1 0 0,-8 2 0,-29 16 0,9 0 0,-44 19 0,42-23 0,-145 71 0,126-58 0,41-21 0,0-2 0,-32 14 0,-101 40 0,60-24 0,-109 43 0,47-21 0,100-34 0,36-17 0,-1-2 0,-24 11 0,-47 20-30,11-4-605,34-20 635,25-10 0,0 2 0,-21 10 0,27-12 0,0 0 0,0 0 0,0-1 0,-19 3 0,19-5 0,1 1 0,0 1 0,-1-1 0,1 1 0,1 1 0,-13 6 0,8-2 95,-1 1 0,0-2 0,-1 1 0,0-2 0,0 0 0,-24 5 0,-57 12-95,-40 7 0,112-25 0,-45 15 0,51-14 0,-1 0 0,0-2 0,0 0 0,-21 2 0,9-2 0,0 1 0,0 1 0,0 2 0,-31 12 0,-22 6 0,8-12 31,52-10-299,-46 12-1,41-8 235,-1-1 0,-57 5 0,77-10 35,-28 4-1,-51 15 0,15-3 0,30-8 0,17-3 0,-1-2 0,-36 4 0,18-5 0,-89 21 0,35-4 0,59-14 53,-3 1 132,0-2 0,-48 1-1,-62-9-184,-138 4 0,198 10-884,59-6 864,-54 2 0,-44-10-145,-97 3-214,143 12 372,52-7 25,-44 1 0,-333-6 129,195-2-147,192 2 0,0 1 0,-31 8 0,29-5 0,-47 3 0,-427-7-1397,240-2 1199,221 2 419,-54 11-1,-31 1 244,32-14 700,56-1-960,0 2 1,0 1 0,-60 11-1,36-3-345,0-2 0,0-3-1,-103-6 1,45-1 108,-3302 3 566,3395-1-521,1-1-1,-31-8 1,28 5 3,-44-3 0,-39 7-15,55 3 0,0-4 0,-85-12 0,-60-13-757,-7 1 757,171 22 0,-54 0 0,8 1 0,-41-19 0,27 9-25,59 6 353,-67-2 0,80 9-296,0-2-1,-1 0 1,-38-9-1,-90-16-31,78 12 0,-98-7 0,28-2 0,106 15 0,0 2 0,-71-4 0,89 10 0,0-2 0,-36-7 0,4-1 0,-63-10 0,66 10 0,-1 2 0,-91-3 0,116 11 0,0-2 0,-1-1 0,-49-13 0,49 9 0,-1 2 0,0 0 0,-36 0 0,46 4 0,-1-1 0,0-1 0,1 0 0,-1-2 0,-34-14 0,33 12 0,-1 0 0,0 1 0,0 2 0,-23-4 0,5 3 0,-63-18 0,13 2 0,-8-5 0,12 2 0,69 20 0,0-1 0,1-1 0,0-1 0,0 0 0,-19-13 0,-7-4 0,3 3 0,-62-45 0,49 23 0,-60-65 0,64 60 0,39 38 0,0-1 0,0 0 0,1-1 0,1 1 0,0-2 0,0 1 0,2-1 0,-9-27 0,-16-38 0,8 42 0,17 31 0,1-1 0,0 1 0,1-1 0,-1 0 0,1 0 0,0 0 0,1-1 0,-3-12 0,2-4 0,2 12 0,0 0 0,-1 1 0,-1-1 0,0 1 0,-6-18 0,0 7 0,1-1 0,-8-40 0,11 39 0,-1 0 0,-15-36 0,16 48 0,2-1 0,-1 0 0,1 1 0,1-1 0,-1-15 0,2 15 0,0 1 0,-1 0 0,-1 0 0,0 0 0,0 0 0,-7-14 0,1 7 0,0-2 0,1 1 0,2-1 0,0 0 0,1 0 0,1-1 0,1 1 0,-1-44 0,3 47 0,0 1 0,-9-33 0,-2-23 0,-1-11 0,8 61 0,1 0 0,-1-27 0,4-581 0,3 302 0,-2 292 0,-1 1 0,1 0 0,3 0 0,11-62 0,-10 73 0,0 0 0,-2 0 0,-1-35 0,-2 40 0,2 1 0,0-1 0,0 1 0,2-1 0,1 1 0,11-36 0,-2 24 0,-1 0 0,-2-2 0,9-47 0,-16 69 0,0-1 0,1 1 0,0 0 0,9-17 0,9-30 0,-15 40 0,-1 0 0,19-33 0,-6 13 0,30-51 0,-23 46 0,7-13 0,59-75 0,-85 122 0,9-12 0,1 1 0,1 0 0,22-18 0,-31 29 0,0 1 0,-1-2 0,0 1 0,8-13 0,16-20 0,-13 18 0,-1-1 0,29-50 0,-2 1 0,-34 56-1365,-1 2-5461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4657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well-engineered paper with a good core idea. My argument is not that the idea is wrong. It is that the evidence for the headline claims does not survive checking, and the mechanism has a structural bias nobody accounted for.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reason Skills were introduced is context economy. Too many tool definitions crowd out the actual task. Skills fix that by loading only a name and description up front. Remember this premise — slide 7 comes back 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E18F7-525D-D773-B7B8-CC200E3F5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1D9A3-67AF-6EF4-2700-939B20C320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F95B8-7108-EC6A-0E42-5C011A955DD7}"/>
              </a:ext>
            </a:extLst>
          </p:cNvPr>
          <p:cNvSpPr>
            <a:spLocks noGrp="1"/>
          </p:cNvSpPr>
          <p:nvPr>
            <p:ph type="body" idx="1"/>
          </p:nvPr>
        </p:nvSpPr>
        <p:spPr/>
        <p:txBody>
          <a:bodyPr/>
          <a:lstStyle/>
          <a:p>
            <a:r>
              <a:rPr lang="en-US" dirty="0"/>
              <a:t>The whole reason Skills were introduced is context economy. Too many tool definitions crowd out the actual task. Skills fix that by loading only a name and description up front. Remember this premise — slide 7 comes back to it.</a:t>
            </a:r>
          </a:p>
        </p:txBody>
      </p:sp>
      <p:sp>
        <p:nvSpPr>
          <p:cNvPr id="4" name="Slide Number Placeholder 3">
            <a:extLst>
              <a:ext uri="{FF2B5EF4-FFF2-40B4-BE49-F238E27FC236}">
                <a16:creationId xmlns:a16="http://schemas.microsoft.com/office/drawing/2014/main" id="{662146D6-5EB0-7CE4-8001-F48E0F6EBA0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706166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11F79-CB58-8FC5-FA4C-B9AF4109C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E7B60-6C1C-7CB8-7CB1-6764324280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0D9BA-0538-6154-7590-4C3E855EBE6B}"/>
              </a:ext>
            </a:extLst>
          </p:cNvPr>
          <p:cNvSpPr>
            <a:spLocks noGrp="1"/>
          </p:cNvSpPr>
          <p:nvPr>
            <p:ph type="body" idx="1"/>
          </p:nvPr>
        </p:nvSpPr>
        <p:spPr/>
        <p:txBody>
          <a:bodyPr/>
          <a:lstStyle/>
          <a:p>
            <a:r>
              <a:rPr lang="en-US" dirty="0"/>
              <a:t>The whole reason Skills were introduced is context economy. Too many tool definitions crowd out the actual task. Skills fix that by loading only a name and description up front. Remember this premise — slide 7 comes back to it.</a:t>
            </a:r>
          </a:p>
        </p:txBody>
      </p:sp>
      <p:sp>
        <p:nvSpPr>
          <p:cNvPr id="4" name="Slide Number Placeholder 3">
            <a:extLst>
              <a:ext uri="{FF2B5EF4-FFF2-40B4-BE49-F238E27FC236}">
                <a16:creationId xmlns:a16="http://schemas.microsoft.com/office/drawing/2014/main" id="{76345CB9-2583-C940-50F1-A35C5533BAC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79652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Keep this fast. The one thing to land: mimicking ML training is not new. TextGrad did it in 2024 and is titled 'Automatic differentiation via text'. It is reference [40] in SkillOpt and a baseline in their Table 1. Also: GRPO updates weights, it is not the ancestor of prompt optimization.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GEPA's headline claim is sample efficiency, not raw ceiling: best result per rollout. That matters later, because SkillOpt spent 213 million tokens on SearchQA and never states what budget GEPA got. Also note the Pareto frontier exists specifically to escape the local optima that afflict greedy prompt search.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State the claim generously. The critique only works if the room believes I read the paper properly. Flag the three claims I will come back to.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important detail for later is the gate: strictly greater than the current selection score, ties rejected. That guarantees a monotone trajectory, which is the paper's real selling point. It is also textbook greedy hill-climbing.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This is the pivot of the talk. Everything before it is setup; everything after it is evidence. The argument is not that optimization is worthless, it is that the comparison is against a strawman baseline while the real alternative is cheap, public, and already good.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Be precise here or it backfires. I am not claiming they faked the number. I am claiming the sentence trades on an ambiguity: the reader hears 'took an expert skill and improved it in four edits', and what happened is 'started from a stub'. Then the LiveMath concentration shows the average advantage is carried by one benchmark with a suspiciously weak human baseline.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This is the strongest original point and it is structural rather than statistical. Reasoned from the token table, then confirmed in the published prompts. Close the loop back to section 1 and end on the fix.</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Four smaller items, one line each. The third is the most important and the least obvious: absence of the experiment is itself the finding. If the method cannot be shown to improve an already-good artifact, the entire practical case collapses to 'use it when you have nothing'.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asymmetry is the argument. Not that the optimizer cannot work, but that the setup cost is paid in things that expire. A skill written from a guide has no scorer, no corpus, and no hyperparameters to go stale.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Be careful with the framing: the SkillOpt-minus-GEPA gap is NOT monotone in model size. It is +10.8 on Qwen3.5-4B but +8.9 on GPT-5.5 and only +4.0 on nano. So do not claim 'SkillOpt beats GEPA more on smaller models' as a general rule. The defensible claim is about controllability, not size: on the two open-weight Qwen models, hand-written skills are worthless to harmful and GEPA is weak, while SkillOpt holds up. The likely reason the human baseline degrades off-family is that it was written and sanity-checked against GPT models. If asked, concede the non-monotonicity immediately and restate the claim as controllability.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Closing line: it is not a general adaptation method, it is a capability-substitution method, and their own data says so. Then the three fixes. Ending on what would make the claims testable reads far better than ending on the attack.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customXml" Target="../ink/ink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640080" y="1920240"/>
            <a:ext cx="10908792" cy="320040"/>
          </a:xfrm>
          <a:prstGeom prst="rect">
            <a:avLst/>
          </a:prstGeom>
          <a:noFill/>
          <a:ln/>
        </p:spPr>
        <p:txBody>
          <a:bodyPr wrap="square" lIns="0" tIns="0" rIns="0" bIns="0" rtlCol="0" anchor="ctr"/>
          <a:lstStyle/>
          <a:p>
            <a:pPr marL="0" indent="0">
              <a:buNone/>
            </a:pPr>
            <a:r>
              <a:rPr lang="en-US" sz="1300" b="1" kern="0" spc="300" dirty="0">
                <a:solidFill>
                  <a:srgbClr val="9A9A9A"/>
                </a:solidFill>
                <a:latin typeface="Arial" pitchFamily="34" charset="0"/>
                <a:ea typeface="Arial" pitchFamily="34" charset="-122"/>
                <a:cs typeface="Arial" pitchFamily="34" charset="-120"/>
              </a:rPr>
              <a:t>A CRITICAL ANALYSIS</a:t>
            </a:r>
            <a:endParaRPr lang="en-US" sz="1300" dirty="0"/>
          </a:p>
        </p:txBody>
      </p:sp>
      <p:sp>
        <p:nvSpPr>
          <p:cNvPr id="3" name="Text 1"/>
          <p:cNvSpPr/>
          <p:nvPr/>
        </p:nvSpPr>
        <p:spPr>
          <a:xfrm>
            <a:off x="640080" y="2286000"/>
            <a:ext cx="10908792" cy="91440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SkillOpt</a:t>
            </a:r>
            <a:endParaRPr lang="en-US" sz="6000" dirty="0"/>
          </a:p>
        </p:txBody>
      </p:sp>
      <p:sp>
        <p:nvSpPr>
          <p:cNvPr id="4" name="Text 2"/>
          <p:cNvSpPr/>
          <p:nvPr/>
        </p:nvSpPr>
        <p:spPr>
          <a:xfrm>
            <a:off x="640080" y="3246120"/>
            <a:ext cx="10908792" cy="457200"/>
          </a:xfrm>
          <a:prstGeom prst="rect">
            <a:avLst/>
          </a:prstGeom>
          <a:noFill/>
          <a:ln/>
        </p:spPr>
        <p:txBody>
          <a:bodyPr wrap="square" lIns="0" tIns="0" rIns="0" bIns="0" rtlCol="0" anchor="ctr"/>
          <a:lstStyle/>
          <a:p>
            <a:pPr marL="0" indent="0">
              <a:buNone/>
            </a:pPr>
            <a:r>
              <a:rPr lang="en-US" sz="2400" i="1" dirty="0">
                <a:solidFill>
                  <a:srgbClr val="D5D5D5"/>
                </a:solidFill>
                <a:latin typeface="Cambria" pitchFamily="34" charset="0"/>
                <a:ea typeface="Cambria" pitchFamily="34" charset="-122"/>
                <a:cs typeface="Cambria" pitchFamily="34" charset="-120"/>
              </a:rPr>
              <a:t>Do we actually need to train our skills?</a:t>
            </a:r>
            <a:endParaRPr lang="en-US" sz="2400" dirty="0"/>
          </a:p>
        </p:txBody>
      </p:sp>
      <p:sp>
        <p:nvSpPr>
          <p:cNvPr id="5" name="Shape 3"/>
          <p:cNvSpPr/>
          <p:nvPr/>
        </p:nvSpPr>
        <p:spPr>
          <a:xfrm>
            <a:off x="640080" y="3977640"/>
            <a:ext cx="1280160" cy="27432"/>
          </a:xfrm>
          <a:prstGeom prst="rect">
            <a:avLst/>
          </a:prstGeom>
          <a:solidFill>
            <a:srgbClr val="B3121B"/>
          </a:solidFill>
          <a:ln/>
        </p:spPr>
        <p:txBody>
          <a:bodyPr/>
          <a:lstStyle/>
          <a:p>
            <a:endParaRPr lang="en-US"/>
          </a:p>
        </p:txBody>
      </p:sp>
      <p:sp>
        <p:nvSpPr>
          <p:cNvPr id="6" name="Text 4"/>
          <p:cNvSpPr/>
          <p:nvPr/>
        </p:nvSpPr>
        <p:spPr>
          <a:xfrm>
            <a:off x="640080" y="4251960"/>
            <a:ext cx="10908792" cy="731520"/>
          </a:xfrm>
          <a:prstGeom prst="rect">
            <a:avLst/>
          </a:prstGeom>
          <a:noFill/>
          <a:ln/>
        </p:spPr>
        <p:txBody>
          <a:bodyPr wrap="square" lIns="0" tIns="0" rIns="0" bIns="0" rtlCol="0" anchor="ctr"/>
          <a:lstStyle/>
          <a:p>
            <a:pPr marL="0" indent="0">
              <a:lnSpc>
                <a:spcPts val="2000"/>
              </a:lnSpc>
              <a:buNone/>
            </a:pPr>
            <a:r>
              <a:rPr lang="en-US" sz="1300" dirty="0">
                <a:solidFill>
                  <a:srgbClr val="9A9A9A"/>
                </a:solidFill>
                <a:latin typeface="Arial" pitchFamily="34" charset="0"/>
                <a:ea typeface="Arial" pitchFamily="34" charset="-122"/>
                <a:cs typeface="Arial" pitchFamily="34" charset="-120"/>
              </a:rPr>
              <a:t>Microsoft Research, arXiv:2605.23904 (May 2026)</a:t>
            </a:r>
            <a:endParaRPr lang="en-US" sz="1300" dirty="0"/>
          </a:p>
          <a:p>
            <a:pPr marL="0" indent="0">
              <a:lnSpc>
                <a:spcPts val="2000"/>
              </a:lnSpc>
              <a:buNone/>
            </a:pPr>
            <a:r>
              <a:rPr lang="en-US" sz="1300" dirty="0">
                <a:solidFill>
                  <a:srgbClr val="9A9A9A"/>
                </a:solidFill>
                <a:latin typeface="Arial" pitchFamily="34" charset="0"/>
                <a:ea typeface="Arial" pitchFamily="34" charset="-122"/>
                <a:cs typeface="Arial" pitchFamily="34" charset="-120"/>
              </a:rPr>
              <a:t>Reference point: GEPA — Agrawal et al., ICLR 2026 Oral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502920"/>
            <a:ext cx="10908792" cy="274320"/>
          </a:xfrm>
          <a:prstGeom prst="rect">
            <a:avLst/>
          </a:prstGeom>
          <a:noFill/>
          <a:ln/>
        </p:spPr>
        <p:txBody>
          <a:bodyPr wrap="square" lIns="0" tIns="0" rIns="0" bIns="0" rtlCol="0" anchor="ctr"/>
          <a:lstStyle/>
          <a:p>
            <a:pPr marL="0" indent="0">
              <a:buNone/>
            </a:pPr>
            <a:r>
              <a:rPr lang="en-US" sz="1200" b="1" kern="0" spc="200" dirty="0">
                <a:solidFill>
                  <a:srgbClr val="6E6E6E"/>
                </a:solidFill>
                <a:latin typeface="Arial" pitchFamily="34" charset="0"/>
                <a:ea typeface="Arial" pitchFamily="34" charset="-122"/>
                <a:cs typeface="Arial" pitchFamily="34" charset="-120"/>
              </a:rPr>
              <a:t>01 — CONTEXT</a:t>
            </a:r>
            <a:endParaRPr lang="en-US" sz="1200" dirty="0"/>
          </a:p>
        </p:txBody>
      </p:sp>
      <p:sp>
        <p:nvSpPr>
          <p:cNvPr id="3" name="Text 1"/>
          <p:cNvSpPr/>
          <p:nvPr/>
        </p:nvSpPr>
        <p:spPr>
          <a:xfrm>
            <a:off x="640080" y="841248"/>
            <a:ext cx="10908792" cy="685800"/>
          </a:xfrm>
          <a:prstGeom prst="rect">
            <a:avLst/>
          </a:prstGeom>
          <a:noFill/>
          <a:ln/>
        </p:spPr>
        <p:txBody>
          <a:bodyPr wrap="square" lIns="0" tIns="0" rIns="0" bIns="0" rtlCol="0" anchor="ctr"/>
          <a:lstStyle/>
          <a:p>
            <a:pPr marL="0" indent="0">
              <a:buNone/>
            </a:pPr>
            <a:r>
              <a:rPr lang="en-US" sz="3400" b="1" dirty="0">
                <a:solidFill>
                  <a:srgbClr val="141414"/>
                </a:solidFill>
                <a:latin typeface="Cambria" pitchFamily="34" charset="0"/>
                <a:ea typeface="Cambria" pitchFamily="34" charset="-122"/>
                <a:cs typeface="Cambria" pitchFamily="34" charset="-120"/>
              </a:rPr>
              <a:t>Why Skills exist at all</a:t>
            </a:r>
            <a:endParaRPr lang="en-US" sz="3400" dirty="0"/>
          </a:p>
        </p:txBody>
      </p:sp>
      <p:sp>
        <p:nvSpPr>
          <p:cNvPr id="4" name="Shape 2"/>
          <p:cNvSpPr/>
          <p:nvPr/>
        </p:nvSpPr>
        <p:spPr>
          <a:xfrm>
            <a:off x="640080" y="1920240"/>
            <a:ext cx="2395728" cy="1600200"/>
          </a:xfrm>
          <a:prstGeom prst="rect">
            <a:avLst/>
          </a:prstGeom>
          <a:solidFill>
            <a:srgbClr val="F4F4F4"/>
          </a:solidFill>
          <a:ln w="12700">
            <a:solidFill>
              <a:srgbClr val="D8D8D8"/>
            </a:solidFill>
            <a:prstDash val="solid"/>
          </a:ln>
        </p:spPr>
        <p:txBody>
          <a:bodyPr/>
          <a:lstStyle/>
          <a:p>
            <a:endParaRPr lang="en-US"/>
          </a:p>
        </p:txBody>
      </p:sp>
      <p:sp>
        <p:nvSpPr>
          <p:cNvPr id="5" name="Text 3"/>
          <p:cNvSpPr/>
          <p:nvPr/>
        </p:nvSpPr>
        <p:spPr>
          <a:xfrm>
            <a:off x="786384" y="2121408"/>
            <a:ext cx="2103120" cy="640080"/>
          </a:xfrm>
          <a:prstGeom prst="rect">
            <a:avLst/>
          </a:prstGeom>
          <a:noFill/>
          <a:ln/>
        </p:spPr>
        <p:txBody>
          <a:bodyPr wrap="square" lIns="0" tIns="0" rIns="0" bIns="0" rtlCol="0" anchor="ctr"/>
          <a:lstStyle/>
          <a:p>
            <a:pPr marL="0" indent="0">
              <a:buNone/>
            </a:pPr>
            <a:r>
              <a:rPr lang="en-US" sz="1700" b="1" dirty="0">
                <a:solidFill>
                  <a:srgbClr val="141414"/>
                </a:solidFill>
                <a:latin typeface="Cambria" pitchFamily="34" charset="0"/>
                <a:ea typeface="Cambria" pitchFamily="34" charset="-122"/>
                <a:cs typeface="Cambria" pitchFamily="34" charset="-120"/>
              </a:rPr>
              <a:t>Tools in the</a:t>
            </a:r>
            <a:endParaRPr lang="en-US" sz="1700" dirty="0"/>
          </a:p>
          <a:p>
            <a:pPr marL="0" indent="0">
              <a:buNone/>
            </a:pPr>
            <a:r>
              <a:rPr lang="en-US" sz="1700" b="1" dirty="0">
                <a:solidFill>
                  <a:srgbClr val="141414"/>
                </a:solidFill>
                <a:latin typeface="Cambria" pitchFamily="34" charset="0"/>
                <a:ea typeface="Cambria" pitchFamily="34" charset="-122"/>
                <a:cs typeface="Cambria" pitchFamily="34" charset="-120"/>
              </a:rPr>
              <a:t>system prompt</a:t>
            </a:r>
            <a:endParaRPr lang="en-US" sz="1700" dirty="0"/>
          </a:p>
        </p:txBody>
      </p:sp>
      <p:sp>
        <p:nvSpPr>
          <p:cNvPr id="6" name="Text 4"/>
          <p:cNvSpPr/>
          <p:nvPr/>
        </p:nvSpPr>
        <p:spPr>
          <a:xfrm>
            <a:off x="786384" y="2834640"/>
            <a:ext cx="2103120" cy="548640"/>
          </a:xfrm>
          <a:prstGeom prst="rect">
            <a:avLst/>
          </a:prstGeom>
          <a:noFill/>
          <a:ln/>
        </p:spPr>
        <p:txBody>
          <a:bodyPr wrap="square" lIns="0" tIns="0" rIns="0" bIns="0" rtlCol="0" anchor="ctr"/>
          <a:lstStyle/>
          <a:p>
            <a:pPr marL="0" indent="0">
              <a:lnSpc>
                <a:spcPts val="1400"/>
              </a:lnSpc>
              <a:buNone/>
            </a:pPr>
            <a:r>
              <a:rPr lang="en-US" sz="1100" dirty="0">
                <a:solidFill>
                  <a:srgbClr val="6E6E6E"/>
                </a:solidFill>
                <a:latin typeface="Arial" pitchFamily="34" charset="0"/>
                <a:ea typeface="Arial" pitchFamily="34" charset="-122"/>
                <a:cs typeface="Arial" pitchFamily="34" charset="-120"/>
              </a:rPr>
              <a:t>Leaked prompts of GPT-4,</a:t>
            </a:r>
            <a:endParaRPr lang="en-US" sz="1100" dirty="0"/>
          </a:p>
          <a:p>
            <a:pPr marL="0" indent="0">
              <a:lnSpc>
                <a:spcPts val="1400"/>
              </a:lnSpc>
              <a:buNone/>
            </a:pPr>
            <a:r>
              <a:rPr lang="en-US" sz="1100" dirty="0">
                <a:solidFill>
                  <a:srgbClr val="6E6E6E"/>
                </a:solidFill>
                <a:latin typeface="Arial" pitchFamily="34" charset="0"/>
                <a:ea typeface="Arial" pitchFamily="34" charset="-122"/>
                <a:cs typeface="Arial" pitchFamily="34" charset="-120"/>
              </a:rPr>
              <a:t>Gemini 1.5, Claude 3</a:t>
            </a:r>
            <a:endParaRPr lang="en-US" sz="1100" dirty="0"/>
          </a:p>
        </p:txBody>
      </p:sp>
      <p:sp>
        <p:nvSpPr>
          <p:cNvPr id="7" name="Text 5"/>
          <p:cNvSpPr/>
          <p:nvPr/>
        </p:nvSpPr>
        <p:spPr>
          <a:xfrm>
            <a:off x="3072384" y="2468880"/>
            <a:ext cx="365760" cy="457200"/>
          </a:xfrm>
          <a:prstGeom prst="rect">
            <a:avLst/>
          </a:prstGeom>
          <a:noFill/>
          <a:ln/>
        </p:spPr>
        <p:txBody>
          <a:bodyPr wrap="square" lIns="0" tIns="0" rIns="0" bIns="0" rtlCol="0" anchor="ctr"/>
          <a:lstStyle/>
          <a:p>
            <a:pPr marL="0" indent="0" algn="ctr">
              <a:buNone/>
            </a:pPr>
            <a:r>
              <a:rPr lang="en-US" sz="2200" dirty="0">
                <a:solidFill>
                  <a:srgbClr val="6E6E6E"/>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474720" y="1920240"/>
            <a:ext cx="2395728" cy="1600200"/>
          </a:xfrm>
          <a:prstGeom prst="rect">
            <a:avLst/>
          </a:prstGeom>
          <a:solidFill>
            <a:srgbClr val="F4F4F4"/>
          </a:solidFill>
          <a:ln w="12700">
            <a:solidFill>
              <a:srgbClr val="D8D8D8"/>
            </a:solidFill>
            <a:prstDash val="solid"/>
          </a:ln>
        </p:spPr>
        <p:txBody>
          <a:bodyPr/>
          <a:lstStyle/>
          <a:p>
            <a:endParaRPr lang="en-US"/>
          </a:p>
        </p:txBody>
      </p:sp>
      <p:sp>
        <p:nvSpPr>
          <p:cNvPr id="9" name="Text 7"/>
          <p:cNvSpPr/>
          <p:nvPr/>
        </p:nvSpPr>
        <p:spPr>
          <a:xfrm>
            <a:off x="3621024" y="2121408"/>
            <a:ext cx="2103120" cy="640080"/>
          </a:xfrm>
          <a:prstGeom prst="rect">
            <a:avLst/>
          </a:prstGeom>
          <a:noFill/>
          <a:ln/>
        </p:spPr>
        <p:txBody>
          <a:bodyPr wrap="square" lIns="0" tIns="0" rIns="0" bIns="0" rtlCol="0" anchor="ctr"/>
          <a:lstStyle/>
          <a:p>
            <a:pPr marL="0" indent="0">
              <a:buNone/>
            </a:pPr>
            <a:r>
              <a:rPr lang="en-US" sz="1700" b="1" dirty="0">
                <a:solidFill>
                  <a:srgbClr val="141414"/>
                </a:solidFill>
                <a:latin typeface="Cambria" pitchFamily="34" charset="0"/>
                <a:ea typeface="Cambria" pitchFamily="34" charset="-122"/>
                <a:cs typeface="Cambria" pitchFamily="34" charset="-120"/>
              </a:rPr>
              <a:t>MCP</a:t>
            </a:r>
            <a:endParaRPr lang="en-US" sz="1700" dirty="0"/>
          </a:p>
          <a:p>
            <a:pPr marL="0" indent="0">
              <a:buNone/>
            </a:pPr>
            <a:r>
              <a:rPr lang="en-US" sz="1700" b="1" dirty="0">
                <a:solidFill>
                  <a:srgbClr val="141414"/>
                </a:solidFill>
                <a:latin typeface="Cambria" pitchFamily="34" charset="0"/>
                <a:ea typeface="Cambria" pitchFamily="34" charset="-122"/>
                <a:cs typeface="Cambria" pitchFamily="34" charset="-120"/>
              </a:rPr>
              <a:t>standardizes them</a:t>
            </a:r>
            <a:endParaRPr lang="en-US" sz="1700" dirty="0"/>
          </a:p>
        </p:txBody>
      </p:sp>
      <p:sp>
        <p:nvSpPr>
          <p:cNvPr id="10" name="Text 8"/>
          <p:cNvSpPr/>
          <p:nvPr/>
        </p:nvSpPr>
        <p:spPr>
          <a:xfrm>
            <a:off x="3621024" y="2834640"/>
            <a:ext cx="2103120" cy="548640"/>
          </a:xfrm>
          <a:prstGeom prst="rect">
            <a:avLst/>
          </a:prstGeom>
          <a:noFill/>
          <a:ln/>
        </p:spPr>
        <p:txBody>
          <a:bodyPr wrap="square" lIns="0" tIns="0" rIns="0" bIns="0" rtlCol="0" anchor="ctr"/>
          <a:lstStyle/>
          <a:p>
            <a:pPr marL="0" indent="0">
              <a:lnSpc>
                <a:spcPts val="1400"/>
              </a:lnSpc>
              <a:buNone/>
            </a:pPr>
            <a:r>
              <a:rPr lang="en-US" sz="1100" dirty="0">
                <a:solidFill>
                  <a:srgbClr val="6E6E6E"/>
                </a:solidFill>
                <a:latin typeface="Arial" pitchFamily="34" charset="0"/>
                <a:ea typeface="Arial" pitchFamily="34" charset="-122"/>
                <a:cs typeface="Arial" pitchFamily="34" charset="-120"/>
              </a:rPr>
              <a:t>One protocol,</a:t>
            </a:r>
            <a:endParaRPr lang="en-US" sz="1100" dirty="0"/>
          </a:p>
          <a:p>
            <a:pPr marL="0" indent="0">
              <a:lnSpc>
                <a:spcPts val="1400"/>
              </a:lnSpc>
              <a:buNone/>
            </a:pPr>
            <a:r>
              <a:rPr lang="en-US" sz="1100" dirty="0">
                <a:solidFill>
                  <a:srgbClr val="6E6E6E"/>
                </a:solidFill>
                <a:latin typeface="Arial" pitchFamily="34" charset="0"/>
                <a:ea typeface="Arial" pitchFamily="34" charset="-122"/>
                <a:cs typeface="Arial" pitchFamily="34" charset="-120"/>
              </a:rPr>
              <a:t>many tools</a:t>
            </a:r>
            <a:endParaRPr lang="en-US" sz="1100" dirty="0"/>
          </a:p>
        </p:txBody>
      </p:sp>
      <p:sp>
        <p:nvSpPr>
          <p:cNvPr id="11" name="Text 9"/>
          <p:cNvSpPr/>
          <p:nvPr/>
        </p:nvSpPr>
        <p:spPr>
          <a:xfrm>
            <a:off x="5907024" y="2468880"/>
            <a:ext cx="365760" cy="457200"/>
          </a:xfrm>
          <a:prstGeom prst="rect">
            <a:avLst/>
          </a:prstGeom>
          <a:noFill/>
          <a:ln/>
        </p:spPr>
        <p:txBody>
          <a:bodyPr wrap="square" lIns="0" tIns="0" rIns="0" bIns="0" rtlCol="0" anchor="ctr"/>
          <a:lstStyle/>
          <a:p>
            <a:pPr marL="0" indent="0" algn="ctr">
              <a:buNone/>
            </a:pPr>
            <a:r>
              <a:rPr lang="en-US" sz="2200" dirty="0">
                <a:solidFill>
                  <a:srgbClr val="6E6E6E"/>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6309360" y="1920240"/>
            <a:ext cx="2395728" cy="1600200"/>
          </a:xfrm>
          <a:prstGeom prst="rect">
            <a:avLst/>
          </a:prstGeom>
          <a:solidFill>
            <a:srgbClr val="F4F4F4"/>
          </a:solidFill>
          <a:ln w="12700">
            <a:solidFill>
              <a:srgbClr val="D8D8D8"/>
            </a:solidFill>
            <a:prstDash val="solid"/>
          </a:ln>
        </p:spPr>
        <p:txBody>
          <a:bodyPr/>
          <a:lstStyle/>
          <a:p>
            <a:endParaRPr lang="en-US"/>
          </a:p>
        </p:txBody>
      </p:sp>
      <p:sp>
        <p:nvSpPr>
          <p:cNvPr id="13" name="Text 11"/>
          <p:cNvSpPr/>
          <p:nvPr/>
        </p:nvSpPr>
        <p:spPr>
          <a:xfrm>
            <a:off x="6455664" y="2121408"/>
            <a:ext cx="2103120" cy="640080"/>
          </a:xfrm>
          <a:prstGeom prst="rect">
            <a:avLst/>
          </a:prstGeom>
          <a:noFill/>
          <a:ln/>
        </p:spPr>
        <p:txBody>
          <a:bodyPr wrap="square" lIns="0" tIns="0" rIns="0" bIns="0" rtlCol="0" anchor="ctr"/>
          <a:lstStyle/>
          <a:p>
            <a:pPr marL="0" indent="0">
              <a:buNone/>
            </a:pPr>
            <a:r>
              <a:rPr lang="en-US" sz="1700" b="1" dirty="0">
                <a:solidFill>
                  <a:srgbClr val="141414"/>
                </a:solidFill>
                <a:latin typeface="Cambria" pitchFamily="34" charset="0"/>
                <a:ea typeface="Cambria" pitchFamily="34" charset="-122"/>
                <a:cs typeface="Cambria" pitchFamily="34" charset="-120"/>
              </a:rPr>
              <a:t>Too many tools</a:t>
            </a:r>
            <a:endParaRPr lang="en-US" sz="1700" dirty="0"/>
          </a:p>
          <a:p>
            <a:pPr marL="0" indent="0">
              <a:buNone/>
            </a:pPr>
            <a:r>
              <a:rPr lang="en-US" sz="1700" b="1" dirty="0">
                <a:solidFill>
                  <a:srgbClr val="141414"/>
                </a:solidFill>
                <a:latin typeface="Cambria" pitchFamily="34" charset="0"/>
                <a:ea typeface="Cambria" pitchFamily="34" charset="-122"/>
                <a:cs typeface="Cambria" pitchFamily="34" charset="-120"/>
              </a:rPr>
              <a:t>eat the context</a:t>
            </a:r>
            <a:endParaRPr lang="en-US" sz="1700" dirty="0"/>
          </a:p>
        </p:txBody>
      </p:sp>
      <p:sp>
        <p:nvSpPr>
          <p:cNvPr id="14" name="Text 12"/>
          <p:cNvSpPr/>
          <p:nvPr/>
        </p:nvSpPr>
        <p:spPr>
          <a:xfrm>
            <a:off x="6455664" y="2834640"/>
            <a:ext cx="2103120" cy="548640"/>
          </a:xfrm>
          <a:prstGeom prst="rect">
            <a:avLst/>
          </a:prstGeom>
          <a:noFill/>
          <a:ln/>
        </p:spPr>
        <p:txBody>
          <a:bodyPr wrap="square" lIns="0" tIns="0" rIns="0" bIns="0" rtlCol="0" anchor="ctr"/>
          <a:lstStyle/>
          <a:p>
            <a:pPr marL="0" indent="0">
              <a:lnSpc>
                <a:spcPts val="1400"/>
              </a:lnSpc>
              <a:buNone/>
            </a:pPr>
            <a:r>
              <a:rPr lang="en-US" sz="1100" dirty="0">
                <a:solidFill>
                  <a:srgbClr val="6E6E6E"/>
                </a:solidFill>
                <a:latin typeface="Arial" pitchFamily="34" charset="0"/>
                <a:ea typeface="Arial" pitchFamily="34" charset="-122"/>
                <a:cs typeface="Arial" pitchFamily="34" charset="-120"/>
              </a:rPr>
              <a:t>Every tool spec is</a:t>
            </a:r>
            <a:endParaRPr lang="en-US" sz="1100" dirty="0"/>
          </a:p>
          <a:p>
            <a:pPr marL="0" indent="0">
              <a:lnSpc>
                <a:spcPts val="1400"/>
              </a:lnSpc>
              <a:buNone/>
            </a:pPr>
            <a:r>
              <a:rPr lang="en-US" sz="1100" dirty="0">
                <a:solidFill>
                  <a:srgbClr val="6E6E6E"/>
                </a:solidFill>
                <a:latin typeface="Arial" pitchFamily="34" charset="0"/>
                <a:ea typeface="Arial" pitchFamily="34" charset="-122"/>
                <a:cs typeface="Arial" pitchFamily="34" charset="-120"/>
              </a:rPr>
              <a:t>paid for on every call</a:t>
            </a:r>
            <a:endParaRPr lang="en-US" sz="1100" dirty="0"/>
          </a:p>
        </p:txBody>
      </p:sp>
      <p:sp>
        <p:nvSpPr>
          <p:cNvPr id="15" name="Text 13"/>
          <p:cNvSpPr/>
          <p:nvPr/>
        </p:nvSpPr>
        <p:spPr>
          <a:xfrm>
            <a:off x="8741664" y="2468880"/>
            <a:ext cx="365760" cy="457200"/>
          </a:xfrm>
          <a:prstGeom prst="rect">
            <a:avLst/>
          </a:prstGeom>
          <a:noFill/>
          <a:ln/>
        </p:spPr>
        <p:txBody>
          <a:bodyPr wrap="square" lIns="0" tIns="0" rIns="0" bIns="0" rtlCol="0" anchor="ctr"/>
          <a:lstStyle/>
          <a:p>
            <a:pPr marL="0" indent="0" algn="ctr">
              <a:buNone/>
            </a:pPr>
            <a:r>
              <a:rPr lang="en-US" sz="2200" dirty="0">
                <a:solidFill>
                  <a:srgbClr val="6E6E6E"/>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9144000" y="1920240"/>
            <a:ext cx="2395728" cy="1600200"/>
          </a:xfrm>
          <a:prstGeom prst="rect">
            <a:avLst/>
          </a:prstGeom>
          <a:solidFill>
            <a:srgbClr val="141414"/>
          </a:solidFill>
          <a:ln w="12700">
            <a:solidFill>
              <a:srgbClr val="141414"/>
            </a:solidFill>
            <a:prstDash val="solid"/>
          </a:ln>
        </p:spPr>
        <p:txBody>
          <a:bodyPr/>
          <a:lstStyle/>
          <a:p>
            <a:endParaRPr lang="en-US"/>
          </a:p>
        </p:txBody>
      </p:sp>
      <p:sp>
        <p:nvSpPr>
          <p:cNvPr id="17" name="Text 15"/>
          <p:cNvSpPr/>
          <p:nvPr/>
        </p:nvSpPr>
        <p:spPr>
          <a:xfrm>
            <a:off x="9290304" y="2121408"/>
            <a:ext cx="2103120" cy="64008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Split into</a:t>
            </a:r>
            <a:endParaRPr lang="en-US" sz="1700" dirty="0"/>
          </a:p>
          <a:p>
            <a:pPr marL="0" indent="0">
              <a:buNone/>
            </a:pPr>
            <a:r>
              <a:rPr lang="en-US" sz="1700" b="1" dirty="0">
                <a:solidFill>
                  <a:srgbClr val="FFFFFF"/>
                </a:solidFill>
                <a:latin typeface="Cambria" pitchFamily="34" charset="0"/>
                <a:ea typeface="Cambria" pitchFamily="34" charset="-122"/>
                <a:cs typeface="Cambria" pitchFamily="34" charset="-120"/>
              </a:rPr>
              <a:t>Skills</a:t>
            </a:r>
            <a:endParaRPr lang="en-US" sz="1700" dirty="0"/>
          </a:p>
        </p:txBody>
      </p:sp>
      <p:sp>
        <p:nvSpPr>
          <p:cNvPr id="18" name="Text 16"/>
          <p:cNvSpPr/>
          <p:nvPr/>
        </p:nvSpPr>
        <p:spPr>
          <a:xfrm>
            <a:off x="9290304" y="2834640"/>
            <a:ext cx="2103120" cy="548640"/>
          </a:xfrm>
          <a:prstGeom prst="rect">
            <a:avLst/>
          </a:prstGeom>
          <a:noFill/>
          <a:ln/>
        </p:spPr>
        <p:txBody>
          <a:bodyPr wrap="square" lIns="0" tIns="0" rIns="0" bIns="0" rtlCol="0" anchor="ctr"/>
          <a:lstStyle/>
          <a:p>
            <a:pPr marL="0" indent="0">
              <a:lnSpc>
                <a:spcPts val="1400"/>
              </a:lnSpc>
              <a:buNone/>
            </a:pPr>
            <a:r>
              <a:rPr lang="en-US" sz="1100" dirty="0">
                <a:solidFill>
                  <a:srgbClr val="C8C8C8"/>
                </a:solidFill>
                <a:latin typeface="Arial" pitchFamily="34" charset="0"/>
                <a:ea typeface="Arial" pitchFamily="34" charset="-122"/>
                <a:cs typeface="Arial" pitchFamily="34" charset="-120"/>
              </a:rPr>
              <a:t>Name + description loaded;</a:t>
            </a:r>
            <a:endParaRPr lang="en-US" sz="1100" dirty="0"/>
          </a:p>
          <a:p>
            <a:pPr marL="0" indent="0">
              <a:lnSpc>
                <a:spcPts val="1400"/>
              </a:lnSpc>
              <a:buNone/>
            </a:pPr>
            <a:r>
              <a:rPr lang="en-US" sz="1100" dirty="0">
                <a:solidFill>
                  <a:srgbClr val="C8C8C8"/>
                </a:solidFill>
                <a:latin typeface="Arial" pitchFamily="34" charset="0"/>
                <a:ea typeface="Arial" pitchFamily="34" charset="-122"/>
                <a:cs typeface="Arial" pitchFamily="34" charset="-120"/>
              </a:rPr>
              <a:t>instructions on demand</a:t>
            </a:r>
            <a:endParaRPr lang="en-US" sz="1100" dirty="0"/>
          </a:p>
        </p:txBody>
      </p:sp>
      <p:sp>
        <p:nvSpPr>
          <p:cNvPr id="19" name="Shape 17"/>
          <p:cNvSpPr/>
          <p:nvPr/>
        </p:nvSpPr>
        <p:spPr>
          <a:xfrm>
            <a:off x="640080" y="4069080"/>
            <a:ext cx="10908792" cy="1051560"/>
          </a:xfrm>
          <a:prstGeom prst="rect">
            <a:avLst/>
          </a:prstGeom>
          <a:solidFill>
            <a:srgbClr val="FFFFFF"/>
          </a:solidFill>
          <a:ln w="25400">
            <a:solidFill>
              <a:srgbClr val="B3121B"/>
            </a:solidFill>
            <a:prstDash val="solid"/>
          </a:ln>
        </p:spPr>
        <p:txBody>
          <a:bodyPr/>
          <a:lstStyle/>
          <a:p>
            <a:endParaRPr lang="en-US"/>
          </a:p>
        </p:txBody>
      </p:sp>
      <p:sp>
        <p:nvSpPr>
          <p:cNvPr id="20" name="Text 18"/>
          <p:cNvSpPr/>
          <p:nvPr/>
        </p:nvSpPr>
        <p:spPr>
          <a:xfrm>
            <a:off x="914400" y="4224528"/>
            <a:ext cx="10360152" cy="384048"/>
          </a:xfrm>
          <a:prstGeom prst="rect">
            <a:avLst/>
          </a:prstGeom>
          <a:noFill/>
          <a:ln/>
        </p:spPr>
        <p:txBody>
          <a:bodyPr wrap="square" lIns="0" tIns="0" rIns="0" bIns="0" rtlCol="0" anchor="ctr"/>
          <a:lstStyle/>
          <a:p>
            <a:pPr marL="0" indent="0">
              <a:buNone/>
            </a:pPr>
            <a:r>
              <a:rPr lang="en-US" sz="2400" b="1" dirty="0">
                <a:solidFill>
                  <a:srgbClr val="B3121B"/>
                </a:solidFill>
                <a:latin typeface="Cambria" pitchFamily="34" charset="0"/>
                <a:ea typeface="Cambria" pitchFamily="34" charset="-122"/>
                <a:cs typeface="Cambria" pitchFamily="34" charset="-120"/>
              </a:rPr>
              <a:t>Skills exist to SAVE context.</a:t>
            </a:r>
            <a:endParaRPr lang="en-US" sz="2400" dirty="0"/>
          </a:p>
        </p:txBody>
      </p:sp>
      <p:sp>
        <p:nvSpPr>
          <p:cNvPr id="21" name="Text 19"/>
          <p:cNvSpPr/>
          <p:nvPr/>
        </p:nvSpPr>
        <p:spPr>
          <a:xfrm>
            <a:off x="914400" y="4626864"/>
            <a:ext cx="10360152" cy="320040"/>
          </a:xfrm>
          <a:prstGeom prst="rect">
            <a:avLst/>
          </a:prstGeom>
          <a:noFill/>
          <a:ln/>
        </p:spPr>
        <p:txBody>
          <a:bodyPr wrap="square" lIns="0" tIns="0" rIns="0" bIns="0" rtlCol="0" anchor="ctr"/>
          <a:lstStyle/>
          <a:p>
            <a:pPr marL="0" indent="0">
              <a:buNone/>
            </a:pPr>
            <a:r>
              <a:rPr lang="en-US" sz="1400" dirty="0">
                <a:solidFill>
                  <a:srgbClr val="141414"/>
                </a:solidFill>
                <a:latin typeface="Arial" pitchFamily="34" charset="0"/>
                <a:ea typeface="Arial" pitchFamily="34" charset="-122"/>
                <a:cs typeface="Arial" pitchFamily="34" charset="-120"/>
              </a:rPr>
              <a:t>Hold onto this. It is the premise the rest of the talk measures the method against.</a:t>
            </a:r>
            <a:endParaRPr lang="en-US" sz="1400" dirty="0"/>
          </a:p>
        </p:txBody>
      </p:sp>
      <p:sp>
        <p:nvSpPr>
          <p:cNvPr id="22" name="Text 20"/>
          <p:cNvSpPr/>
          <p:nvPr/>
        </p:nvSpPr>
        <p:spPr>
          <a:xfrm>
            <a:off x="640080" y="5349240"/>
            <a:ext cx="10908792" cy="320040"/>
          </a:xfrm>
          <a:prstGeom prst="rect">
            <a:avLst/>
          </a:prstGeom>
          <a:noFill/>
          <a:ln/>
        </p:spPr>
        <p:txBody>
          <a:bodyPr wrap="square" lIns="0" tIns="0" rIns="0" bIns="0" rtlCol="0" anchor="ctr"/>
          <a:lstStyle/>
          <a:p>
            <a:pPr marL="0" indent="0">
              <a:buNone/>
            </a:pPr>
            <a:r>
              <a:rPr lang="en-US" sz="1300" i="1" dirty="0">
                <a:solidFill>
                  <a:srgbClr val="6E6E6E"/>
                </a:solidFill>
                <a:latin typeface="Arial" pitchFamily="34" charset="0"/>
                <a:ea typeface="Arial" pitchFamily="34" charset="-122"/>
                <a:cs typeface="Arial" pitchFamily="34" charset="-120"/>
              </a:rPr>
              <a:t>A skill = Name + Description (always in context) + Instructions (loaded when invoked)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7B2C9-EE59-8BF4-738F-CDCD3057265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D2AD29-9B6B-DAB5-7B7E-EAB6F4C90B9C}"/>
              </a:ext>
            </a:extLst>
          </p:cNvPr>
          <p:cNvSpPr/>
          <p:nvPr/>
        </p:nvSpPr>
        <p:spPr>
          <a:xfrm>
            <a:off x="640080" y="502920"/>
            <a:ext cx="10908792" cy="274320"/>
          </a:xfrm>
          <a:prstGeom prst="rect">
            <a:avLst/>
          </a:prstGeom>
          <a:noFill/>
          <a:ln/>
        </p:spPr>
        <p:txBody>
          <a:bodyPr wrap="square" lIns="0" tIns="0" rIns="0" bIns="0" rtlCol="0" anchor="ctr"/>
          <a:lstStyle/>
          <a:p>
            <a:pPr marL="0" indent="0">
              <a:buNone/>
            </a:pPr>
            <a:r>
              <a:rPr lang="en-US" sz="1200" b="1" kern="0" spc="200" dirty="0">
                <a:solidFill>
                  <a:srgbClr val="6E6E6E"/>
                </a:solidFill>
                <a:latin typeface="Arial" pitchFamily="34" charset="0"/>
                <a:ea typeface="Arial" pitchFamily="34" charset="-122"/>
                <a:cs typeface="Arial" pitchFamily="34" charset="-120"/>
              </a:rPr>
              <a:t>01 — CONTEXT</a:t>
            </a:r>
            <a:endParaRPr lang="en-US" sz="1200" dirty="0"/>
          </a:p>
        </p:txBody>
      </p:sp>
      <p:sp>
        <p:nvSpPr>
          <p:cNvPr id="3" name="Text 1">
            <a:extLst>
              <a:ext uri="{FF2B5EF4-FFF2-40B4-BE49-F238E27FC236}">
                <a16:creationId xmlns:a16="http://schemas.microsoft.com/office/drawing/2014/main" id="{360BE6A8-F681-552D-AB39-E97581A334F5}"/>
              </a:ext>
            </a:extLst>
          </p:cNvPr>
          <p:cNvSpPr/>
          <p:nvPr/>
        </p:nvSpPr>
        <p:spPr>
          <a:xfrm>
            <a:off x="640080" y="841248"/>
            <a:ext cx="10908792" cy="685800"/>
          </a:xfrm>
          <a:prstGeom prst="rect">
            <a:avLst/>
          </a:prstGeom>
          <a:noFill/>
          <a:ln/>
        </p:spPr>
        <p:txBody>
          <a:bodyPr wrap="square" lIns="0" tIns="0" rIns="0" bIns="0" rtlCol="0" anchor="ctr"/>
          <a:lstStyle/>
          <a:p>
            <a:pPr marL="0" indent="0">
              <a:buNone/>
            </a:pPr>
            <a:r>
              <a:rPr lang="en-US" sz="3400" b="1" dirty="0">
                <a:solidFill>
                  <a:srgbClr val="141414"/>
                </a:solidFill>
                <a:latin typeface="Cambria" pitchFamily="34" charset="0"/>
                <a:ea typeface="Cambria" pitchFamily="34" charset="-122"/>
                <a:cs typeface="Cambria" pitchFamily="34" charset="-120"/>
              </a:rPr>
              <a:t>Why Skills exist at all</a:t>
            </a:r>
            <a:endParaRPr lang="en-US" sz="3400" dirty="0"/>
          </a:p>
        </p:txBody>
      </p:sp>
      <p:pic>
        <p:nvPicPr>
          <p:cNvPr id="24" name="Picture 23">
            <a:extLst>
              <a:ext uri="{FF2B5EF4-FFF2-40B4-BE49-F238E27FC236}">
                <a16:creationId xmlns:a16="http://schemas.microsoft.com/office/drawing/2014/main" id="{6920605D-0768-8B3C-6312-F5D2282739FE}"/>
              </a:ext>
            </a:extLst>
          </p:cNvPr>
          <p:cNvPicPr>
            <a:picLocks noChangeAspect="1"/>
          </p:cNvPicPr>
          <p:nvPr/>
        </p:nvPicPr>
        <p:blipFill>
          <a:blip r:embed="rId3"/>
          <a:stretch>
            <a:fillRect/>
          </a:stretch>
        </p:blipFill>
        <p:spPr>
          <a:xfrm>
            <a:off x="120278" y="1518522"/>
            <a:ext cx="5823548" cy="4810499"/>
          </a:xfrm>
          <a:prstGeom prst="rect">
            <a:avLst/>
          </a:prstGeom>
        </p:spPr>
      </p:pic>
      <p:pic>
        <p:nvPicPr>
          <p:cNvPr id="26" name="Picture 25">
            <a:extLst>
              <a:ext uri="{FF2B5EF4-FFF2-40B4-BE49-F238E27FC236}">
                <a16:creationId xmlns:a16="http://schemas.microsoft.com/office/drawing/2014/main" id="{45B781DC-F88A-50EF-F814-426AEE2A4F76}"/>
              </a:ext>
            </a:extLst>
          </p:cNvPr>
          <p:cNvPicPr>
            <a:picLocks noChangeAspect="1"/>
          </p:cNvPicPr>
          <p:nvPr/>
        </p:nvPicPr>
        <p:blipFill>
          <a:blip r:embed="rId4"/>
          <a:stretch>
            <a:fillRect/>
          </a:stretch>
        </p:blipFill>
        <p:spPr>
          <a:xfrm>
            <a:off x="6121800" y="1518522"/>
            <a:ext cx="5946874" cy="4836558"/>
          </a:xfrm>
          <a:prstGeom prst="rect">
            <a:avLst/>
          </a:prstGeom>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CEB3E30-6AF5-1022-566D-30C139E06E22}"/>
                  </a:ext>
                </a:extLst>
              </p14:cNvPr>
              <p14:cNvContentPartPr/>
              <p14:nvPr/>
            </p14:nvContentPartPr>
            <p14:xfrm>
              <a:off x="6082472" y="1220510"/>
              <a:ext cx="6001560" cy="2354760"/>
            </p14:xfrm>
          </p:contentPart>
        </mc:Choice>
        <mc:Fallback xmlns="">
          <p:pic>
            <p:nvPicPr>
              <p:cNvPr id="5" name="Ink 4">
                <a:extLst>
                  <a:ext uri="{FF2B5EF4-FFF2-40B4-BE49-F238E27FC236}">
                    <a16:creationId xmlns:a16="http://schemas.microsoft.com/office/drawing/2014/main" id="{8CEB3E30-6AF5-1022-566D-30C139E06E22}"/>
                  </a:ext>
                </a:extLst>
              </p:cNvPr>
              <p:cNvPicPr/>
              <p:nvPr/>
            </p:nvPicPr>
            <p:blipFill>
              <a:blip r:embed="rId6"/>
              <a:stretch>
                <a:fillRect/>
              </a:stretch>
            </p:blipFill>
            <p:spPr>
              <a:xfrm>
                <a:off x="6076352" y="1214390"/>
                <a:ext cx="6013800" cy="2367000"/>
              </a:xfrm>
              <a:prstGeom prst="rect">
                <a:avLst/>
              </a:prstGeom>
            </p:spPr>
          </p:pic>
        </mc:Fallback>
      </mc:AlternateContent>
    </p:spTree>
    <p:extLst>
      <p:ext uri="{BB962C8B-B14F-4D97-AF65-F5344CB8AC3E}">
        <p14:creationId xmlns:p14="http://schemas.microsoft.com/office/powerpoint/2010/main" val="2201605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46D42-9612-602F-E44E-EDF036190A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5A801D-951F-9BE4-1292-D9488C804C77}"/>
              </a:ext>
            </a:extLst>
          </p:cNvPr>
          <p:cNvSpPr/>
          <p:nvPr/>
        </p:nvSpPr>
        <p:spPr>
          <a:xfrm>
            <a:off x="640080" y="502920"/>
            <a:ext cx="10908792" cy="274320"/>
          </a:xfrm>
          <a:prstGeom prst="rect">
            <a:avLst/>
          </a:prstGeom>
          <a:noFill/>
          <a:ln/>
        </p:spPr>
        <p:txBody>
          <a:bodyPr wrap="square" lIns="0" tIns="0" rIns="0" bIns="0" rtlCol="0" anchor="ctr"/>
          <a:lstStyle/>
          <a:p>
            <a:pPr marL="0" indent="0">
              <a:buNone/>
            </a:pPr>
            <a:r>
              <a:rPr lang="en-US" sz="1200" b="1" kern="0" spc="200" dirty="0">
                <a:solidFill>
                  <a:srgbClr val="6E6E6E"/>
                </a:solidFill>
                <a:latin typeface="Arial" pitchFamily="34" charset="0"/>
                <a:ea typeface="Arial" pitchFamily="34" charset="-122"/>
                <a:cs typeface="Arial" pitchFamily="34" charset="-120"/>
              </a:rPr>
              <a:t>01 — CONTEXT</a:t>
            </a:r>
            <a:endParaRPr lang="en-US" sz="1200" dirty="0"/>
          </a:p>
        </p:txBody>
      </p:sp>
      <p:sp>
        <p:nvSpPr>
          <p:cNvPr id="3" name="Text 1">
            <a:extLst>
              <a:ext uri="{FF2B5EF4-FFF2-40B4-BE49-F238E27FC236}">
                <a16:creationId xmlns:a16="http://schemas.microsoft.com/office/drawing/2014/main" id="{C183978A-21AB-0BAB-75E3-21FEF0E2A8B9}"/>
              </a:ext>
            </a:extLst>
          </p:cNvPr>
          <p:cNvSpPr/>
          <p:nvPr/>
        </p:nvSpPr>
        <p:spPr>
          <a:xfrm>
            <a:off x="640080" y="841248"/>
            <a:ext cx="10908792" cy="685800"/>
          </a:xfrm>
          <a:prstGeom prst="rect">
            <a:avLst/>
          </a:prstGeom>
          <a:noFill/>
          <a:ln/>
        </p:spPr>
        <p:txBody>
          <a:bodyPr wrap="square" lIns="0" tIns="0" rIns="0" bIns="0" rtlCol="0" anchor="ctr"/>
          <a:lstStyle/>
          <a:p>
            <a:pPr marL="0" indent="0">
              <a:buNone/>
            </a:pPr>
            <a:r>
              <a:rPr lang="en-US" sz="3400" b="1" dirty="0">
                <a:solidFill>
                  <a:srgbClr val="141414"/>
                </a:solidFill>
                <a:latin typeface="Cambria" pitchFamily="34" charset="0"/>
                <a:ea typeface="Cambria" pitchFamily="34" charset="-122"/>
                <a:cs typeface="Cambria" pitchFamily="34" charset="-120"/>
              </a:rPr>
              <a:t>Why Skills exist at all</a:t>
            </a:r>
            <a:endParaRPr lang="en-US" sz="3400" dirty="0"/>
          </a:p>
        </p:txBody>
      </p:sp>
      <p:pic>
        <p:nvPicPr>
          <p:cNvPr id="5" name="Picture 4">
            <a:extLst>
              <a:ext uri="{FF2B5EF4-FFF2-40B4-BE49-F238E27FC236}">
                <a16:creationId xmlns:a16="http://schemas.microsoft.com/office/drawing/2014/main" id="{CEAE9063-7025-4951-58C7-94B4A54058A0}"/>
              </a:ext>
            </a:extLst>
          </p:cNvPr>
          <p:cNvPicPr>
            <a:picLocks noChangeAspect="1"/>
          </p:cNvPicPr>
          <p:nvPr/>
        </p:nvPicPr>
        <p:blipFill>
          <a:blip r:embed="rId3"/>
          <a:stretch>
            <a:fillRect/>
          </a:stretch>
        </p:blipFill>
        <p:spPr>
          <a:xfrm>
            <a:off x="277652" y="1591056"/>
            <a:ext cx="8673308" cy="4723266"/>
          </a:xfrm>
          <a:prstGeom prst="rect">
            <a:avLst/>
          </a:prstGeom>
        </p:spPr>
      </p:pic>
      <p:sp>
        <p:nvSpPr>
          <p:cNvPr id="4" name="TextBox 3">
            <a:extLst>
              <a:ext uri="{FF2B5EF4-FFF2-40B4-BE49-F238E27FC236}">
                <a16:creationId xmlns:a16="http://schemas.microsoft.com/office/drawing/2014/main" id="{AC28BA06-38F2-ACCC-FE97-39FCA931D182}"/>
              </a:ext>
            </a:extLst>
          </p:cNvPr>
          <p:cNvSpPr txBox="1"/>
          <p:nvPr/>
        </p:nvSpPr>
        <p:spPr>
          <a:xfrm>
            <a:off x="9395926" y="2166648"/>
            <a:ext cx="1996700" cy="646331"/>
          </a:xfrm>
          <a:prstGeom prst="rect">
            <a:avLst/>
          </a:prstGeom>
          <a:noFill/>
        </p:spPr>
        <p:txBody>
          <a:bodyPr wrap="none" rtlCol="0">
            <a:spAutoFit/>
          </a:bodyPr>
          <a:lstStyle/>
          <a:p>
            <a:r>
              <a:rPr lang="en-US" dirty="0"/>
              <a:t>Keep only this part </a:t>
            </a:r>
          </a:p>
          <a:p>
            <a:pPr algn="ctr"/>
            <a:r>
              <a:rPr lang="en-US" dirty="0"/>
              <a:t>in context</a:t>
            </a:r>
          </a:p>
        </p:txBody>
      </p:sp>
      <p:cxnSp>
        <p:nvCxnSpPr>
          <p:cNvPr id="47" name="Straight Arrow Connector 46">
            <a:extLst>
              <a:ext uri="{FF2B5EF4-FFF2-40B4-BE49-F238E27FC236}">
                <a16:creationId xmlns:a16="http://schemas.microsoft.com/office/drawing/2014/main" id="{4020A8D7-19DD-7A36-0BA7-B151B26A8CB9}"/>
              </a:ext>
            </a:extLst>
          </p:cNvPr>
          <p:cNvCxnSpPr/>
          <p:nvPr/>
        </p:nvCxnSpPr>
        <p:spPr>
          <a:xfrm flipH="1">
            <a:off x="8565502" y="2351314"/>
            <a:ext cx="7184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2655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02 — TEXT OPTIMIZATION</a:t>
            </a:r>
          </a:p>
        </p:txBody>
      </p:sp>
      <p:sp>
        <p:nvSpPr>
          <p:cNvPr id="3" name="TextBox 2"/>
          <p:cNvSpPr txBox="1"/>
          <p:nvPr/>
        </p:nvSpPr>
        <p:spPr>
          <a:xfrm>
            <a:off x="640080" y="841248"/>
            <a:ext cx="10911535" cy="731520"/>
          </a:xfrm>
          <a:prstGeom prst="rect">
            <a:avLst/>
          </a:prstGeom>
          <a:noFill/>
        </p:spPr>
        <p:txBody>
          <a:bodyPr wrap="square" lIns="0" tIns="0" rIns="0" bIns="0">
            <a:spAutoFit/>
          </a:bodyPr>
          <a:lstStyle/>
          <a:p>
            <a:pPr algn="l"/>
            <a:r>
              <a:rPr sz="3200" b="1" i="0">
                <a:solidFill>
                  <a:srgbClr val="141414"/>
                </a:solidFill>
                <a:latin typeface="Cambria"/>
              </a:rPr>
              <a:t>How we got here</a:t>
            </a:r>
          </a:p>
        </p:txBody>
      </p:sp>
      <p:graphicFrame>
        <p:nvGraphicFramePr>
          <p:cNvPr id="4" name="Table 3"/>
          <p:cNvGraphicFramePr>
            <a:graphicFrameLocks noGrp="1"/>
          </p:cNvGraphicFramePr>
          <p:nvPr/>
        </p:nvGraphicFramePr>
        <p:xfrm>
          <a:off x="640080" y="1691640"/>
          <a:ext cx="6400800" cy="2706624"/>
        </p:xfrm>
        <a:graphic>
          <a:graphicData uri="http://schemas.openxmlformats.org/drawingml/2006/table">
            <a:tbl>
              <a:tblPr>
                <a:tableStyleId>{2D5ABB26-0587-4C30-8999-92F81FD0307C}</a:tableStyleId>
              </a:tblPr>
              <a:tblGrid>
                <a:gridCol w="6858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297180">
                <a:tc>
                  <a:txBody>
                    <a:bodyPr/>
                    <a:lstStyle/>
                    <a:p>
                      <a:pPr algn="l"/>
                      <a:endParaRP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Work</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What it added</a:t>
                      </a:r>
                    </a:p>
                  </a:txBody>
                  <a:tcPr marL="82296" marR="82296" marT="27432" marB="27432" anchor="ctr">
                    <a:lnB w="9525" cap="flat" cmpd="sng" algn="ctr">
                      <a:solidFill>
                        <a:srgbClr val="D8D8D8"/>
                      </a:solidFill>
                      <a:prstDash val="solid"/>
                    </a:lnB>
                    <a:solidFill>
                      <a:srgbClr val="F4F4F4"/>
                    </a:solidFill>
                  </a:tcPr>
                </a:tc>
                <a:extLst>
                  <a:ext uri="{0D108BD9-81ED-4DB2-BD59-A6C34878D82A}">
                    <a16:rowId xmlns:a16="http://schemas.microsoft.com/office/drawing/2014/main" val="10000"/>
                  </a:ext>
                </a:extLst>
              </a:tr>
              <a:tr h="297180">
                <a:tc>
                  <a:txBody>
                    <a:bodyPr/>
                    <a:lstStyle/>
                    <a:p>
                      <a:pPr algn="l"/>
                      <a:r>
                        <a:rPr sz="1250" b="0">
                          <a:solidFill>
                            <a:srgbClr val="141414"/>
                          </a:solidFill>
                          <a:latin typeface="Arial"/>
                        </a:rPr>
                        <a:t>2023</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OPRO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LLM proposes prompts, score-guided</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297180">
                <a:tc>
                  <a:txBody>
                    <a:bodyPr/>
                    <a:lstStyle/>
                    <a:p>
                      <a:pPr algn="l"/>
                      <a:r>
                        <a:rPr sz="1250" b="0">
                          <a:solidFill>
                            <a:srgbClr val="141414"/>
                          </a:solidFill>
                          <a:latin typeface="Arial"/>
                        </a:rPr>
                        <a:t>2023</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DSPy</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programs as compilable artifacts</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2"/>
                  </a:ext>
                </a:extLst>
              </a:tr>
              <a:tr h="297180">
                <a:tc>
                  <a:txBody>
                    <a:bodyPr/>
                    <a:lstStyle/>
                    <a:p>
                      <a:pPr algn="l"/>
                      <a:r>
                        <a:rPr sz="1250" b="0">
                          <a:solidFill>
                            <a:srgbClr val="141414"/>
                          </a:solidFill>
                          <a:latin typeface="Arial"/>
                        </a:rPr>
                        <a:t>2023</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Reflexion / Self-Refine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trajectory reflection</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3"/>
                  </a:ext>
                </a:extLst>
              </a:tr>
              <a:tr h="297180">
                <a:tc>
                  <a:txBody>
                    <a:bodyPr/>
                    <a:lstStyle/>
                    <a:p>
                      <a:pPr algn="l"/>
                      <a:r>
                        <a:rPr sz="1250" b="0">
                          <a:solidFill>
                            <a:srgbClr val="141414"/>
                          </a:solidFill>
                          <a:latin typeface="Arial"/>
                        </a:rPr>
                        <a:t>2024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COPRO / MIPROv2</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instructions / instructions + demos</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4"/>
                  </a:ext>
                </a:extLst>
              </a:tr>
              <a:tr h="297180">
                <a:tc>
                  <a:txBody>
                    <a:bodyPr/>
                    <a:lstStyle/>
                    <a:p>
                      <a:pPr algn="l"/>
                      <a:r>
                        <a:rPr sz="1250" b="0">
                          <a:solidFill>
                            <a:srgbClr val="141414"/>
                          </a:solidFill>
                          <a:latin typeface="Arial"/>
                        </a:rPr>
                        <a:t>2024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TextGrad</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the gradient analogy</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5"/>
                  </a:ext>
                </a:extLst>
              </a:tr>
              <a:tr h="297180">
                <a:tc>
                  <a:txBody>
                    <a:bodyPr/>
                    <a:lstStyle/>
                    <a:p>
                      <a:pPr algn="l"/>
                      <a:r>
                        <a:rPr sz="1250" b="0">
                          <a:solidFill>
                            <a:srgbClr val="141414"/>
                          </a:solidFill>
                          <a:latin typeface="Arial"/>
                        </a:rPr>
                        <a:t>2025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dirty="0">
                          <a:solidFill>
                            <a:srgbClr val="141414"/>
                          </a:solidFill>
                          <a:latin typeface="Arial"/>
                        </a:rPr>
                        <a:t>GEPA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reflective evolution + Pareto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6"/>
                  </a:ext>
                </a:extLst>
              </a:tr>
              <a:tr h="297180">
                <a:tc>
                  <a:txBody>
                    <a:bodyPr/>
                    <a:lstStyle/>
                    <a:p>
                      <a:pPr algn="l"/>
                      <a:r>
                        <a:rPr sz="1250" b="0">
                          <a:solidFill>
                            <a:srgbClr val="141414"/>
                          </a:solidFill>
                          <a:latin typeface="Arial"/>
                        </a:rPr>
                        <a:t>2026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Trace2Skill / EvoSkill</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skill-shaped artifacts</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7"/>
                  </a:ext>
                </a:extLst>
              </a:tr>
              <a:tr h="297180">
                <a:tc>
                  <a:txBody>
                    <a:bodyPr/>
                    <a:lstStyle/>
                    <a:p>
                      <a:pPr algn="l"/>
                      <a:r>
                        <a:rPr sz="1250" b="0">
                          <a:solidFill>
                            <a:srgbClr val="141414"/>
                          </a:solidFill>
                          <a:latin typeface="Arial"/>
                        </a:rPr>
                        <a:t>2026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141414"/>
                          </a:solidFill>
                          <a:latin typeface="Arial"/>
                        </a:rPr>
                        <a:t>SkillOpt</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dirty="0">
                          <a:solidFill>
                            <a:srgbClr val="141414"/>
                          </a:solidFill>
                          <a:latin typeface="Arial"/>
                        </a:rPr>
                        <a:t>gradient analogy + </a:t>
                      </a:r>
                      <a:r>
                        <a:rPr sz="1250" b="1" dirty="0" err="1">
                          <a:solidFill>
                            <a:srgbClr val="141414"/>
                          </a:solidFill>
                          <a:latin typeface="Arial"/>
                        </a:rPr>
                        <a:t>lr</a:t>
                      </a:r>
                      <a:r>
                        <a:rPr sz="1250" b="1" dirty="0">
                          <a:solidFill>
                            <a:srgbClr val="141414"/>
                          </a:solidFill>
                          <a:latin typeface="Arial"/>
                        </a:rPr>
                        <a:t> + gate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8"/>
                  </a:ext>
                </a:extLst>
              </a:tr>
            </a:tbl>
          </a:graphicData>
        </a:graphic>
      </p:graphicFrame>
      <p:sp>
        <p:nvSpPr>
          <p:cNvPr id="5" name="Rectangle 4"/>
          <p:cNvSpPr/>
          <p:nvPr/>
        </p:nvSpPr>
        <p:spPr>
          <a:xfrm>
            <a:off x="7452360" y="1691640"/>
            <a:ext cx="4099255" cy="2880360"/>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08392" y="1901952"/>
            <a:ext cx="3596335" cy="320040"/>
          </a:xfrm>
          <a:prstGeom prst="rect">
            <a:avLst/>
          </a:prstGeom>
          <a:noFill/>
        </p:spPr>
        <p:txBody>
          <a:bodyPr wrap="square" lIns="0" tIns="0" rIns="0" bIns="0">
            <a:spAutoFit/>
          </a:bodyPr>
          <a:lstStyle/>
          <a:p>
            <a:pPr algn="l"/>
            <a:r>
              <a:rPr sz="1900" b="1" i="0">
                <a:solidFill>
                  <a:srgbClr val="141414"/>
                </a:solidFill>
                <a:latin typeface="Cambria"/>
              </a:rPr>
              <a:t>Our scope</a:t>
            </a:r>
          </a:p>
        </p:txBody>
      </p:sp>
      <p:sp>
        <p:nvSpPr>
          <p:cNvPr id="7" name="TextBox 6"/>
          <p:cNvSpPr txBox="1"/>
          <p:nvPr/>
        </p:nvSpPr>
        <p:spPr>
          <a:xfrm>
            <a:off x="7708392" y="2304288"/>
            <a:ext cx="3596335" cy="485326"/>
          </a:xfrm>
          <a:prstGeom prst="rect">
            <a:avLst/>
          </a:prstGeom>
          <a:noFill/>
        </p:spPr>
        <p:txBody>
          <a:bodyPr wrap="square" lIns="0" tIns="0" rIns="0" bIns="0">
            <a:spAutoFit/>
          </a:bodyPr>
          <a:lstStyle/>
          <a:p>
            <a:pPr marL="182880" indent="-182880">
              <a:lnSpc>
                <a:spcPts val="1600"/>
              </a:lnSpc>
              <a:spcAft>
                <a:spcPts val="700"/>
              </a:spcAft>
              <a:buChar char="•"/>
            </a:pPr>
            <a:r>
              <a:rPr sz="1250" dirty="0">
                <a:solidFill>
                  <a:srgbClr val="141414"/>
                </a:solidFill>
                <a:latin typeface="Arial"/>
              </a:rPr>
              <a:t>External state, not weights</a:t>
            </a:r>
          </a:p>
          <a:p>
            <a:pPr marL="182880" indent="-182880">
              <a:lnSpc>
                <a:spcPts val="1600"/>
              </a:lnSpc>
              <a:spcAft>
                <a:spcPts val="700"/>
              </a:spcAft>
              <a:buChar char="•"/>
            </a:pPr>
            <a:r>
              <a:rPr lang="en-US" sz="1250" dirty="0">
                <a:solidFill>
                  <a:srgbClr val="141414"/>
                </a:solidFill>
                <a:latin typeface="Arial"/>
              </a:rPr>
              <a:t>Optimize i</a:t>
            </a:r>
            <a:r>
              <a:rPr sz="1250" dirty="0">
                <a:solidFill>
                  <a:srgbClr val="141414"/>
                </a:solidFill>
                <a:latin typeface="Arial"/>
              </a:rPr>
              <a:t>nstruction text</a:t>
            </a:r>
            <a:r>
              <a:rPr lang="en-US" sz="1250" dirty="0">
                <a:solidFill>
                  <a:srgbClr val="141414"/>
                </a:solidFill>
                <a:latin typeface="Arial"/>
              </a:rPr>
              <a:t>, not few-shot demos</a:t>
            </a:r>
          </a:p>
        </p:txBody>
      </p:sp>
      <p:sp>
        <p:nvSpPr>
          <p:cNvPr id="8" name="TextBox 7"/>
          <p:cNvSpPr txBox="1"/>
          <p:nvPr/>
        </p:nvSpPr>
        <p:spPr>
          <a:xfrm>
            <a:off x="7452360" y="4800600"/>
            <a:ext cx="4099255" cy="1188720"/>
          </a:xfrm>
          <a:prstGeom prst="rect">
            <a:avLst/>
          </a:prstGeom>
          <a:noFill/>
        </p:spPr>
        <p:txBody>
          <a:bodyPr wrap="square" lIns="0" tIns="0" rIns="0" bIns="0">
            <a:spAutoFit/>
          </a:bodyPr>
          <a:lstStyle/>
          <a:p>
            <a:pPr algn="l">
              <a:lnSpc>
                <a:spcPts val="1900"/>
              </a:lnSpc>
            </a:pPr>
            <a:r>
              <a:rPr sz="1400" b="0" i="1">
                <a:solidFill>
                  <a:srgbClr val="141414"/>
                </a:solidFill>
                <a:latin typeface="Cambria"/>
              </a:rPr>
              <a:t>Two families: local descent on one artifact (TextGrad,</a:t>
            </a:r>
          </a:p>
          <a:p>
            <a:pPr algn="l">
              <a:lnSpc>
                <a:spcPts val="1900"/>
              </a:lnSpc>
            </a:pPr>
            <a:r>
              <a:rPr sz="1400" b="0" i="1">
                <a:solidFill>
                  <a:srgbClr val="141414"/>
                </a:solidFill>
                <a:latin typeface="Cambria"/>
              </a:rPr>
              <a:t>SkillOpt) versus population search (GEPA).</a:t>
            </a:r>
          </a:p>
          <a:p>
            <a:pPr algn="l">
              <a:lnSpc>
                <a:spcPts val="1900"/>
              </a:lnSpc>
            </a:pPr>
            <a:r>
              <a:rPr sz="1400" b="0" i="1">
                <a:solidFill>
                  <a:srgbClr val="141414"/>
                </a:solidFill>
                <a:latin typeface="Cambria"/>
              </a:rPr>
              <a:t>GEPA's family won.</a:t>
            </a:r>
          </a:p>
        </p:txBody>
      </p:sp>
      <p:sp>
        <p:nvSpPr>
          <p:cNvPr id="9" name="TextBox 8"/>
          <p:cNvSpPr txBox="1"/>
          <p:nvPr/>
        </p:nvSpPr>
        <p:spPr>
          <a:xfrm>
            <a:off x="640080" y="6309360"/>
            <a:ext cx="10911535" cy="274320"/>
          </a:xfrm>
          <a:prstGeom prst="rect">
            <a:avLst/>
          </a:prstGeom>
          <a:noFill/>
        </p:spPr>
        <p:txBody>
          <a:bodyPr wrap="square" lIns="0" tIns="0" rIns="0" bIns="0">
            <a:spAutoFit/>
          </a:bodyPr>
          <a:lstStyle/>
          <a:p>
            <a:pPr algn="l"/>
            <a:r>
              <a:rPr sz="1000" b="0" i="1">
                <a:solidFill>
                  <a:srgbClr val="6E6E6E"/>
                </a:solidFill>
                <a:latin typeface="Arial"/>
              </a:rPr>
              <a:t>Weight-space methods (GRPO, RLHF) are a parallel track, not an ancestor of this lineage.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02 — THE REFERENCE POINT</a:t>
            </a:r>
          </a:p>
        </p:txBody>
      </p:sp>
      <p:sp>
        <p:nvSpPr>
          <p:cNvPr id="3" name="TextBox 2"/>
          <p:cNvSpPr txBox="1"/>
          <p:nvPr/>
        </p:nvSpPr>
        <p:spPr>
          <a:xfrm>
            <a:off x="640080" y="841248"/>
            <a:ext cx="10911535" cy="492443"/>
          </a:xfrm>
          <a:prstGeom prst="rect">
            <a:avLst/>
          </a:prstGeom>
          <a:noFill/>
        </p:spPr>
        <p:txBody>
          <a:bodyPr wrap="square" lIns="0" tIns="0" rIns="0" bIns="0">
            <a:spAutoFit/>
          </a:bodyPr>
          <a:lstStyle/>
          <a:p>
            <a:pPr algn="l"/>
            <a:r>
              <a:rPr sz="3200" b="1" i="0" dirty="0">
                <a:solidFill>
                  <a:srgbClr val="141414"/>
                </a:solidFill>
                <a:latin typeface="Cambria"/>
              </a:rPr>
              <a:t>GEPA, </a:t>
            </a:r>
            <a:r>
              <a:rPr lang="en-US" sz="3200" b="1" i="0" dirty="0">
                <a:solidFill>
                  <a:srgbClr val="141414"/>
                </a:solidFill>
                <a:latin typeface="Cambria"/>
              </a:rPr>
              <a:t>current </a:t>
            </a:r>
            <a:r>
              <a:rPr sz="3200" b="1" i="0" dirty="0">
                <a:solidFill>
                  <a:srgbClr val="141414"/>
                </a:solidFill>
                <a:latin typeface="Cambria"/>
              </a:rPr>
              <a:t>SOTA</a:t>
            </a:r>
          </a:p>
        </p:txBody>
      </p:sp>
      <p:sp>
        <p:nvSpPr>
          <p:cNvPr id="4" name="TextBox 3"/>
          <p:cNvSpPr txBox="1"/>
          <p:nvPr/>
        </p:nvSpPr>
        <p:spPr>
          <a:xfrm>
            <a:off x="640080" y="1691640"/>
            <a:ext cx="5760720" cy="292608"/>
          </a:xfrm>
          <a:prstGeom prst="rect">
            <a:avLst/>
          </a:prstGeom>
          <a:noFill/>
        </p:spPr>
        <p:txBody>
          <a:bodyPr wrap="square" lIns="0" tIns="0" rIns="0" bIns="0">
            <a:spAutoFit/>
          </a:bodyPr>
          <a:lstStyle/>
          <a:p>
            <a:pPr algn="l"/>
            <a:r>
              <a:rPr sz="1800" b="1" i="0">
                <a:solidFill>
                  <a:srgbClr val="141414"/>
                </a:solidFill>
                <a:latin typeface="Cambria"/>
              </a:rPr>
              <a:t>How it works</a:t>
            </a:r>
          </a:p>
        </p:txBody>
      </p:sp>
      <p:sp>
        <p:nvSpPr>
          <p:cNvPr id="5" name="TextBox 4"/>
          <p:cNvSpPr txBox="1"/>
          <p:nvPr/>
        </p:nvSpPr>
        <p:spPr>
          <a:xfrm>
            <a:off x="640080" y="2103120"/>
            <a:ext cx="320040" cy="274320"/>
          </a:xfrm>
          <a:prstGeom prst="rect">
            <a:avLst/>
          </a:prstGeom>
          <a:noFill/>
        </p:spPr>
        <p:txBody>
          <a:bodyPr wrap="square" lIns="0" tIns="0" rIns="0" bIns="0">
            <a:spAutoFit/>
          </a:bodyPr>
          <a:lstStyle/>
          <a:p>
            <a:pPr algn="l"/>
            <a:r>
              <a:rPr sz="1800" b="1" i="0">
                <a:solidFill>
                  <a:srgbClr val="B3121B"/>
                </a:solidFill>
                <a:latin typeface="Cambria"/>
              </a:rPr>
              <a:t>1</a:t>
            </a:r>
          </a:p>
        </p:txBody>
      </p:sp>
      <p:sp>
        <p:nvSpPr>
          <p:cNvPr id="6" name="TextBox 5"/>
          <p:cNvSpPr txBox="1"/>
          <p:nvPr/>
        </p:nvSpPr>
        <p:spPr>
          <a:xfrm>
            <a:off x="1024127" y="2103120"/>
            <a:ext cx="5349240" cy="274320"/>
          </a:xfrm>
          <a:prstGeom prst="rect">
            <a:avLst/>
          </a:prstGeom>
          <a:noFill/>
        </p:spPr>
        <p:txBody>
          <a:bodyPr wrap="square" lIns="0" tIns="0" rIns="0" bIns="0">
            <a:spAutoFit/>
          </a:bodyPr>
          <a:lstStyle/>
          <a:p>
            <a:pPr algn="l"/>
            <a:r>
              <a:rPr sz="1500" b="1" i="0">
                <a:solidFill>
                  <a:srgbClr val="141414"/>
                </a:solidFill>
                <a:latin typeface="Cambria"/>
              </a:rPr>
              <a:t>Reflective mutation</a:t>
            </a:r>
          </a:p>
        </p:txBody>
      </p:sp>
      <p:sp>
        <p:nvSpPr>
          <p:cNvPr id="7" name="TextBox 6"/>
          <p:cNvSpPr txBox="1"/>
          <p:nvPr/>
        </p:nvSpPr>
        <p:spPr>
          <a:xfrm>
            <a:off x="1024127" y="2395727"/>
            <a:ext cx="5349240" cy="548640"/>
          </a:xfrm>
          <a:prstGeom prst="rect">
            <a:avLst/>
          </a:prstGeom>
          <a:noFill/>
        </p:spPr>
        <p:txBody>
          <a:bodyPr wrap="square" lIns="0" tIns="0" rIns="0" bIns="0">
            <a:spAutoFit/>
          </a:bodyPr>
          <a:lstStyle/>
          <a:p>
            <a:pPr algn="l">
              <a:lnSpc>
                <a:spcPts val="1500"/>
              </a:lnSpc>
            </a:pPr>
            <a:r>
              <a:rPr sz="1200" b="0" i="0">
                <a:solidFill>
                  <a:srgbClr val="6E6E6E"/>
                </a:solidFill>
                <a:latin typeface="Arial"/>
              </a:rPr>
              <a:t>Reads full execution traces, diagnoses the failure in natural language, proposes a new instruction</a:t>
            </a:r>
          </a:p>
        </p:txBody>
      </p:sp>
      <p:sp>
        <p:nvSpPr>
          <p:cNvPr id="8" name="TextBox 7"/>
          <p:cNvSpPr txBox="1"/>
          <p:nvPr/>
        </p:nvSpPr>
        <p:spPr>
          <a:xfrm>
            <a:off x="640080" y="3017520"/>
            <a:ext cx="320040" cy="274320"/>
          </a:xfrm>
          <a:prstGeom prst="rect">
            <a:avLst/>
          </a:prstGeom>
          <a:noFill/>
        </p:spPr>
        <p:txBody>
          <a:bodyPr wrap="square" lIns="0" tIns="0" rIns="0" bIns="0">
            <a:spAutoFit/>
          </a:bodyPr>
          <a:lstStyle/>
          <a:p>
            <a:pPr algn="l"/>
            <a:r>
              <a:rPr sz="1800" b="1" i="0">
                <a:solidFill>
                  <a:srgbClr val="B3121B"/>
                </a:solidFill>
                <a:latin typeface="Cambria"/>
              </a:rPr>
              <a:t>2</a:t>
            </a:r>
          </a:p>
        </p:txBody>
      </p:sp>
      <p:sp>
        <p:nvSpPr>
          <p:cNvPr id="9" name="TextBox 8"/>
          <p:cNvSpPr txBox="1"/>
          <p:nvPr/>
        </p:nvSpPr>
        <p:spPr>
          <a:xfrm>
            <a:off x="1024127" y="3017520"/>
            <a:ext cx="5349240" cy="274320"/>
          </a:xfrm>
          <a:prstGeom prst="rect">
            <a:avLst/>
          </a:prstGeom>
          <a:noFill/>
        </p:spPr>
        <p:txBody>
          <a:bodyPr wrap="square" lIns="0" tIns="0" rIns="0" bIns="0">
            <a:spAutoFit/>
          </a:bodyPr>
          <a:lstStyle/>
          <a:p>
            <a:pPr algn="l"/>
            <a:r>
              <a:rPr sz="1500" b="1" i="0">
                <a:solidFill>
                  <a:srgbClr val="141414"/>
                </a:solidFill>
                <a:latin typeface="Cambria"/>
              </a:rPr>
              <a:t>Pareto population</a:t>
            </a:r>
          </a:p>
        </p:txBody>
      </p:sp>
      <p:sp>
        <p:nvSpPr>
          <p:cNvPr id="10" name="TextBox 9"/>
          <p:cNvSpPr txBox="1"/>
          <p:nvPr/>
        </p:nvSpPr>
        <p:spPr>
          <a:xfrm>
            <a:off x="1024127" y="3310127"/>
            <a:ext cx="5349240" cy="548640"/>
          </a:xfrm>
          <a:prstGeom prst="rect">
            <a:avLst/>
          </a:prstGeom>
          <a:noFill/>
        </p:spPr>
        <p:txBody>
          <a:bodyPr wrap="square" lIns="0" tIns="0" rIns="0" bIns="0">
            <a:spAutoFit/>
          </a:bodyPr>
          <a:lstStyle/>
          <a:p>
            <a:pPr algn="l">
              <a:lnSpc>
                <a:spcPts val="1500"/>
              </a:lnSpc>
            </a:pPr>
            <a:r>
              <a:rPr sz="1200" b="0" i="0">
                <a:solidFill>
                  <a:srgbClr val="6E6E6E"/>
                </a:solidFill>
                <a:latin typeface="Arial"/>
              </a:rPr>
              <a:t>Keeps every candidate that is best on at least one instance — not just the best average</a:t>
            </a:r>
          </a:p>
        </p:txBody>
      </p:sp>
      <p:sp>
        <p:nvSpPr>
          <p:cNvPr id="11" name="TextBox 10"/>
          <p:cNvSpPr txBox="1"/>
          <p:nvPr/>
        </p:nvSpPr>
        <p:spPr>
          <a:xfrm>
            <a:off x="640080" y="3931920"/>
            <a:ext cx="320040" cy="274320"/>
          </a:xfrm>
          <a:prstGeom prst="rect">
            <a:avLst/>
          </a:prstGeom>
          <a:noFill/>
        </p:spPr>
        <p:txBody>
          <a:bodyPr wrap="square" lIns="0" tIns="0" rIns="0" bIns="0">
            <a:spAutoFit/>
          </a:bodyPr>
          <a:lstStyle/>
          <a:p>
            <a:pPr algn="l"/>
            <a:r>
              <a:rPr sz="1800" b="1" i="0">
                <a:solidFill>
                  <a:srgbClr val="B3121B"/>
                </a:solidFill>
                <a:latin typeface="Cambria"/>
              </a:rPr>
              <a:t>3</a:t>
            </a:r>
          </a:p>
        </p:txBody>
      </p:sp>
      <p:sp>
        <p:nvSpPr>
          <p:cNvPr id="12" name="TextBox 11"/>
          <p:cNvSpPr txBox="1"/>
          <p:nvPr/>
        </p:nvSpPr>
        <p:spPr>
          <a:xfrm>
            <a:off x="1024127" y="3931920"/>
            <a:ext cx="5349240" cy="274320"/>
          </a:xfrm>
          <a:prstGeom prst="rect">
            <a:avLst/>
          </a:prstGeom>
          <a:noFill/>
        </p:spPr>
        <p:txBody>
          <a:bodyPr wrap="square" lIns="0" tIns="0" rIns="0" bIns="0">
            <a:spAutoFit/>
          </a:bodyPr>
          <a:lstStyle/>
          <a:p>
            <a:pPr algn="l"/>
            <a:r>
              <a:rPr sz="1500" b="1" i="0">
                <a:solidFill>
                  <a:srgbClr val="141414"/>
                </a:solidFill>
                <a:latin typeface="Cambria"/>
              </a:rPr>
              <a:t>Merge / crossover</a:t>
            </a:r>
          </a:p>
        </p:txBody>
      </p:sp>
      <p:sp>
        <p:nvSpPr>
          <p:cNvPr id="13" name="TextBox 12"/>
          <p:cNvSpPr txBox="1"/>
          <p:nvPr/>
        </p:nvSpPr>
        <p:spPr>
          <a:xfrm>
            <a:off x="1024127" y="4224528"/>
            <a:ext cx="5349240" cy="548640"/>
          </a:xfrm>
          <a:prstGeom prst="rect">
            <a:avLst/>
          </a:prstGeom>
          <a:noFill/>
        </p:spPr>
        <p:txBody>
          <a:bodyPr wrap="square" lIns="0" tIns="0" rIns="0" bIns="0">
            <a:spAutoFit/>
          </a:bodyPr>
          <a:lstStyle/>
          <a:p>
            <a:pPr algn="l">
              <a:lnSpc>
                <a:spcPts val="1500"/>
              </a:lnSpc>
            </a:pPr>
            <a:r>
              <a:rPr sz="1200" b="0" i="0">
                <a:solidFill>
                  <a:srgbClr val="6E6E6E"/>
                </a:solidFill>
                <a:latin typeface="Arial"/>
              </a:rPr>
              <a:t>Combines two candidates that are strong on different tasks</a:t>
            </a:r>
          </a:p>
        </p:txBody>
      </p:sp>
      <p:sp>
        <p:nvSpPr>
          <p:cNvPr id="14" name="Rectangle 13"/>
          <p:cNvSpPr/>
          <p:nvPr/>
        </p:nvSpPr>
        <p:spPr>
          <a:xfrm>
            <a:off x="640080" y="5029200"/>
            <a:ext cx="5760720" cy="1005840"/>
          </a:xfrm>
          <a:prstGeom prst="rect">
            <a:avLst/>
          </a:prstGeom>
          <a:noFill/>
          <a:ln w="25400">
            <a:solidFill>
              <a:srgbClr val="B3121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68680" y="5193792"/>
            <a:ext cx="5303520" cy="685800"/>
          </a:xfrm>
          <a:prstGeom prst="rect">
            <a:avLst/>
          </a:prstGeom>
          <a:noFill/>
        </p:spPr>
        <p:txBody>
          <a:bodyPr wrap="square" lIns="0" tIns="0" rIns="0" bIns="0">
            <a:spAutoFit/>
          </a:bodyPr>
          <a:lstStyle/>
          <a:p>
            <a:pPr algn="l">
              <a:lnSpc>
                <a:spcPts val="1800"/>
              </a:lnSpc>
            </a:pPr>
            <a:r>
              <a:rPr sz="1400" b="1" i="0">
                <a:solidFill>
                  <a:srgbClr val="B3121B"/>
                </a:solidFill>
                <a:latin typeface="Cambria"/>
              </a:rPr>
              <a:t>It beats MIPROv2 without touching demos at all.</a:t>
            </a:r>
          </a:p>
          <a:p>
            <a:pPr algn="l">
              <a:lnSpc>
                <a:spcPts val="1800"/>
              </a:lnSpc>
            </a:pPr>
            <a:r>
              <a:rPr sz="1400" b="1" i="0">
                <a:solidFill>
                  <a:srgbClr val="B3121B"/>
                </a:solidFill>
                <a:latin typeface="Cambria"/>
              </a:rPr>
              <a:t>That is why instruction-only is the right scope.</a:t>
            </a:r>
          </a:p>
        </p:txBody>
      </p:sp>
      <p:sp>
        <p:nvSpPr>
          <p:cNvPr id="16" name="TextBox 15"/>
          <p:cNvSpPr txBox="1"/>
          <p:nvPr/>
        </p:nvSpPr>
        <p:spPr>
          <a:xfrm>
            <a:off x="6858000" y="1691640"/>
            <a:ext cx="4693615" cy="292608"/>
          </a:xfrm>
          <a:prstGeom prst="rect">
            <a:avLst/>
          </a:prstGeom>
          <a:noFill/>
        </p:spPr>
        <p:txBody>
          <a:bodyPr wrap="square" lIns="0" tIns="0" rIns="0" bIns="0">
            <a:spAutoFit/>
          </a:bodyPr>
          <a:lstStyle/>
          <a:p>
            <a:pPr algn="l"/>
            <a:r>
              <a:rPr sz="1800" b="1" i="0">
                <a:solidFill>
                  <a:srgbClr val="141414"/>
                </a:solidFill>
                <a:latin typeface="Cambria"/>
              </a:rPr>
              <a:t>Why it counts as SOTA</a:t>
            </a:r>
          </a:p>
        </p:txBody>
      </p:sp>
      <p:graphicFrame>
        <p:nvGraphicFramePr>
          <p:cNvPr id="17" name="Table 16"/>
          <p:cNvGraphicFramePr>
            <a:graphicFrameLocks noGrp="1"/>
          </p:cNvGraphicFramePr>
          <p:nvPr/>
        </p:nvGraphicFramePr>
        <p:xfrm>
          <a:off x="6858000" y="2103120"/>
          <a:ext cx="4690872" cy="1810512"/>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tblGrid>
              <a:tr h="347472">
                <a:tc>
                  <a:txBody>
                    <a:bodyPr/>
                    <a:lstStyle/>
                    <a:p>
                      <a:pPr algn="l"/>
                      <a:r>
                        <a:rPr sz="1200" b="1">
                          <a:solidFill>
                            <a:srgbClr val="141414"/>
                          </a:solidFill>
                          <a:latin typeface="Arial"/>
                        </a:rPr>
                        <a:t>Signal</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00" b="1">
                          <a:solidFill>
                            <a:srgbClr val="141414"/>
                          </a:solidFill>
                          <a:latin typeface="Arial"/>
                        </a:rPr>
                        <a:t>Evidence</a:t>
                      </a:r>
                    </a:p>
                  </a:txBody>
                  <a:tcPr marL="82296" marR="82296" marT="27432" marB="27432" anchor="ctr">
                    <a:lnB w="9525" cap="flat" cmpd="sng" algn="ctr">
                      <a:solidFill>
                        <a:srgbClr val="D8D8D8"/>
                      </a:solidFill>
                      <a:prstDash val="solid"/>
                    </a:lnB>
                    <a:solidFill>
                      <a:srgbClr val="F4F4F4"/>
                    </a:solidFill>
                  </a:tcPr>
                </a:tc>
                <a:extLst>
                  <a:ext uri="{0D108BD9-81ED-4DB2-BD59-A6C34878D82A}">
                    <a16:rowId xmlns:a16="http://schemas.microsoft.com/office/drawing/2014/main" val="10000"/>
                  </a:ext>
                </a:extLst>
              </a:tr>
              <a:tr h="347472">
                <a:tc>
                  <a:txBody>
                    <a:bodyPr/>
                    <a:lstStyle/>
                    <a:p>
                      <a:pPr algn="l"/>
                      <a:r>
                        <a:rPr sz="1200" b="0">
                          <a:solidFill>
                            <a:srgbClr val="141414"/>
                          </a:solidFill>
                          <a:latin typeface="Arial"/>
                        </a:rPr>
                        <a:t>Peer review</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ICLR 2026 Oral</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347472">
                <a:tc>
                  <a:txBody>
                    <a:bodyPr/>
                    <a:lstStyle/>
                    <a:p>
                      <a:pPr algn="l"/>
                      <a:r>
                        <a:rPr sz="1200" b="0">
                          <a:solidFill>
                            <a:srgbClr val="141414"/>
                          </a:solidFill>
                          <a:latin typeface="Arial"/>
                        </a:rPr>
                        <a:t>vs prior leader</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1">
                          <a:solidFill>
                            <a:srgbClr val="141414"/>
                          </a:solidFill>
                          <a:latin typeface="Arial"/>
                        </a:rPr>
                        <a:t>+13% over MIPROv2</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2"/>
                  </a:ext>
                </a:extLst>
              </a:tr>
              <a:tr h="347472">
                <a:tc>
                  <a:txBody>
                    <a:bodyPr/>
                    <a:lstStyle/>
                    <a:p>
                      <a:pPr algn="l"/>
                      <a:r>
                        <a:rPr sz="1200" b="0">
                          <a:solidFill>
                            <a:srgbClr val="141414"/>
                          </a:solidFill>
                          <a:latin typeface="Arial"/>
                        </a:rPr>
                        <a:t>vs RL</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1">
                          <a:solidFill>
                            <a:srgbClr val="141414"/>
                          </a:solidFill>
                          <a:latin typeface="Arial"/>
                        </a:rPr>
                        <a:t>+20% over GRPO, 35× fewer rollouts</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3"/>
                  </a:ext>
                </a:extLst>
              </a:tr>
              <a:tr h="347472">
                <a:tc>
                  <a:txBody>
                    <a:bodyPr/>
                    <a:lstStyle/>
                    <a:p>
                      <a:pPr algn="l"/>
                      <a:r>
                        <a:rPr sz="1200" b="0">
                          <a:solidFill>
                            <a:srgbClr val="141414"/>
                          </a:solidFill>
                          <a:latin typeface="Arial"/>
                        </a:rPr>
                        <a:t>Revealed preference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the 2026 baseline of choice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6858000" y="3977639"/>
            <a:ext cx="4693615" cy="1828800"/>
          </a:xfrm>
          <a:prstGeom prst="rect">
            <a:avLst/>
          </a:prstGeom>
          <a:noFill/>
        </p:spPr>
        <p:txBody>
          <a:bodyPr wrap="square" lIns="0" tIns="0" rIns="0" bIns="0">
            <a:spAutoFit/>
          </a:bodyPr>
          <a:lstStyle/>
          <a:p>
            <a:pPr marL="182880" indent="-182880">
              <a:lnSpc>
                <a:spcPts val="1600"/>
              </a:lnSpc>
              <a:spcAft>
                <a:spcPts val="700"/>
              </a:spcAft>
              <a:buChar char="•"/>
            </a:pPr>
            <a:r>
              <a:rPr sz="1250">
                <a:solidFill>
                  <a:srgbClr val="141414"/>
                </a:solidFill>
                <a:latin typeface="Arial"/>
              </a:rPr>
              <a:t>MIPROv2 tunes instructions AND demos. GEPA tunes instructions only — and still wins in every setting tested.</a:t>
            </a:r>
          </a:p>
          <a:p>
            <a:pPr marL="182880" indent="-182880">
              <a:lnSpc>
                <a:spcPts val="1600"/>
              </a:lnSpc>
              <a:spcAft>
                <a:spcPts val="700"/>
              </a:spcAft>
              <a:buChar char="•"/>
            </a:pPr>
            <a:r>
              <a:rPr sz="1250">
                <a:solidFill>
                  <a:srgbClr val="141414"/>
                </a:solidFill>
                <a:latin typeface="Arial"/>
              </a:rPr>
              <a:t>Preference optimization, negotiation agents, dialogue disentanglement papers all benchmark against it.</a:t>
            </a:r>
          </a:p>
          <a:p>
            <a:pPr marL="182880" indent="-182880">
              <a:lnSpc>
                <a:spcPts val="1600"/>
              </a:lnSpc>
              <a:spcAft>
                <a:spcPts val="700"/>
              </a:spcAft>
              <a:buChar char="•"/>
            </a:pPr>
            <a:r>
              <a:rPr sz="1250">
                <a:solidFill>
                  <a:srgbClr val="141414"/>
                </a:solidFill>
                <a:latin typeface="Arial"/>
              </a:rPr>
              <a:t>SkillOpt picks GEPA as its own prompt-optimization baseline.</a:t>
            </a:r>
          </a:p>
        </p:txBody>
      </p:sp>
      <p:sp>
        <p:nvSpPr>
          <p:cNvPr id="19" name="TextBox 18"/>
          <p:cNvSpPr txBox="1"/>
          <p:nvPr/>
        </p:nvSpPr>
        <p:spPr>
          <a:xfrm>
            <a:off x="6858000" y="5806440"/>
            <a:ext cx="4693615" cy="457200"/>
          </a:xfrm>
          <a:prstGeom prst="rect">
            <a:avLst/>
          </a:prstGeom>
          <a:noFill/>
        </p:spPr>
        <p:txBody>
          <a:bodyPr wrap="square" lIns="0" tIns="0" rIns="0" bIns="0">
            <a:spAutoFit/>
          </a:bodyPr>
          <a:lstStyle/>
          <a:p>
            <a:pPr algn="l"/>
            <a:r>
              <a:rPr sz="1300" b="0" i="1">
                <a:solidFill>
                  <a:srgbClr val="B3121B"/>
                </a:solidFill>
                <a:latin typeface="Cambria"/>
              </a:rPr>
              <a:t>So this is their yardstick, not one we imported.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03 — SKILLOPT</a:t>
            </a:r>
          </a:p>
        </p:txBody>
      </p:sp>
      <p:sp>
        <p:nvSpPr>
          <p:cNvPr id="3" name="TextBox 2"/>
          <p:cNvSpPr txBox="1"/>
          <p:nvPr/>
        </p:nvSpPr>
        <p:spPr>
          <a:xfrm>
            <a:off x="640080" y="841248"/>
            <a:ext cx="10911535" cy="492443"/>
          </a:xfrm>
          <a:prstGeom prst="rect">
            <a:avLst/>
          </a:prstGeom>
          <a:noFill/>
        </p:spPr>
        <p:txBody>
          <a:bodyPr wrap="square" lIns="0" tIns="0" rIns="0" bIns="0">
            <a:spAutoFit/>
          </a:bodyPr>
          <a:lstStyle/>
          <a:p>
            <a:pPr algn="l"/>
            <a:r>
              <a:rPr lang="en-US" sz="3200" b="1" i="0" dirty="0" err="1">
                <a:solidFill>
                  <a:srgbClr val="141414"/>
                </a:solidFill>
                <a:latin typeface="Cambria"/>
              </a:rPr>
              <a:t>SkillOpt</a:t>
            </a:r>
            <a:endParaRPr sz="3200" b="1" i="0" dirty="0">
              <a:solidFill>
                <a:srgbClr val="141414"/>
              </a:solidFill>
              <a:latin typeface="Cambria"/>
            </a:endParaRPr>
          </a:p>
        </p:txBody>
      </p:sp>
      <p:sp>
        <p:nvSpPr>
          <p:cNvPr id="4" name="TextBox 3"/>
          <p:cNvSpPr txBox="1"/>
          <p:nvPr/>
        </p:nvSpPr>
        <p:spPr>
          <a:xfrm>
            <a:off x="640080" y="1691640"/>
            <a:ext cx="5577840" cy="292608"/>
          </a:xfrm>
          <a:prstGeom prst="rect">
            <a:avLst/>
          </a:prstGeom>
          <a:noFill/>
        </p:spPr>
        <p:txBody>
          <a:bodyPr wrap="square" lIns="0" tIns="0" rIns="0" bIns="0">
            <a:spAutoFit/>
          </a:bodyPr>
          <a:lstStyle/>
          <a:p>
            <a:pPr algn="l"/>
            <a:r>
              <a:rPr sz="1800" b="1" i="0">
                <a:solidFill>
                  <a:srgbClr val="141414"/>
                </a:solidFill>
                <a:latin typeface="Cambria"/>
              </a:rPr>
              <a:t>Where it comes from</a:t>
            </a:r>
          </a:p>
        </p:txBody>
      </p:sp>
      <p:sp>
        <p:nvSpPr>
          <p:cNvPr id="5" name="TextBox 4"/>
          <p:cNvSpPr txBox="1"/>
          <p:nvPr/>
        </p:nvSpPr>
        <p:spPr>
          <a:xfrm>
            <a:off x="640080" y="2084831"/>
            <a:ext cx="5577840" cy="1371600"/>
          </a:xfrm>
          <a:prstGeom prst="rect">
            <a:avLst/>
          </a:prstGeom>
          <a:noFill/>
        </p:spPr>
        <p:txBody>
          <a:bodyPr wrap="square" lIns="0" tIns="0" rIns="0" bIns="0">
            <a:spAutoFit/>
          </a:bodyPr>
          <a:lstStyle/>
          <a:p>
            <a:pPr marL="182880" indent="-182880">
              <a:lnSpc>
                <a:spcPts val="1600"/>
              </a:lnSpc>
              <a:spcAft>
                <a:spcPts val="700"/>
              </a:spcAft>
              <a:buChar char="•"/>
            </a:pPr>
            <a:r>
              <a:rPr sz="1300">
                <a:solidFill>
                  <a:srgbClr val="141414"/>
                </a:solidFill>
                <a:latin typeface="Arial"/>
              </a:rPr>
              <a:t>TextGrad, 2024 — the gradient analogy, but no learning rate, no schedule, no gate</a:t>
            </a:r>
          </a:p>
          <a:p>
            <a:pPr marL="182880" indent="-182880">
              <a:lnSpc>
                <a:spcPts val="1600"/>
              </a:lnSpc>
              <a:spcAft>
                <a:spcPts val="700"/>
              </a:spcAft>
              <a:buChar char="•"/>
            </a:pPr>
            <a:r>
              <a:rPr sz="1300">
                <a:solidFill>
                  <a:srgbClr val="141414"/>
                </a:solidFill>
                <a:latin typeface="Arial"/>
              </a:rPr>
              <a:t>The 2026 skill-artifact wave — Trace2Skill, EvoSkill, SkillForge, SkillX</a:t>
            </a:r>
          </a:p>
        </p:txBody>
      </p:sp>
      <p:sp>
        <p:nvSpPr>
          <p:cNvPr id="6" name="Rectangle 5"/>
          <p:cNvSpPr/>
          <p:nvPr/>
        </p:nvSpPr>
        <p:spPr>
          <a:xfrm>
            <a:off x="640080" y="3520440"/>
            <a:ext cx="5577840" cy="1051560"/>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3703320"/>
            <a:ext cx="5120640" cy="685800"/>
          </a:xfrm>
          <a:prstGeom prst="rect">
            <a:avLst/>
          </a:prstGeom>
          <a:noFill/>
        </p:spPr>
        <p:txBody>
          <a:bodyPr wrap="square" lIns="0" tIns="0" rIns="0" bIns="0">
            <a:spAutoFit/>
          </a:bodyPr>
          <a:lstStyle/>
          <a:p>
            <a:pPr algn="l">
              <a:lnSpc>
                <a:spcPts val="1800"/>
              </a:lnSpc>
            </a:pPr>
            <a:r>
              <a:rPr sz="1400" b="1" i="0">
                <a:solidFill>
                  <a:srgbClr val="141414"/>
                </a:solidFill>
                <a:latin typeface="Cambria"/>
              </a:rPr>
              <a:t>SkillOpt = TextGrad's analogy + a learning rate</a:t>
            </a:r>
          </a:p>
          <a:p>
            <a:pPr algn="l">
              <a:lnSpc>
                <a:spcPts val="1800"/>
              </a:lnSpc>
            </a:pPr>
            <a:r>
              <a:rPr sz="1400" b="1" i="0">
                <a:solidFill>
                  <a:srgbClr val="141414"/>
                </a:solidFill>
                <a:latin typeface="Cambria"/>
              </a:rPr>
              <a:t>+ a validation gate, aimed at a skill document.</a:t>
            </a:r>
          </a:p>
        </p:txBody>
      </p:sp>
      <p:sp>
        <p:nvSpPr>
          <p:cNvPr id="8" name="TextBox 7"/>
          <p:cNvSpPr txBox="1"/>
          <p:nvPr/>
        </p:nvSpPr>
        <p:spPr>
          <a:xfrm>
            <a:off x="640080" y="4754880"/>
            <a:ext cx="5577840" cy="292608"/>
          </a:xfrm>
          <a:prstGeom prst="rect">
            <a:avLst/>
          </a:prstGeom>
          <a:noFill/>
        </p:spPr>
        <p:txBody>
          <a:bodyPr wrap="square" lIns="0" tIns="0" rIns="0" bIns="0">
            <a:spAutoFit/>
          </a:bodyPr>
          <a:lstStyle/>
          <a:p>
            <a:pPr algn="l"/>
            <a:r>
              <a:rPr sz="1400" b="1" i="0">
                <a:solidFill>
                  <a:srgbClr val="141414"/>
                </a:solidFill>
                <a:latin typeface="Cambria"/>
              </a:rPr>
              <a:t>Evidence it is the machinery, not the idea</a:t>
            </a:r>
          </a:p>
        </p:txBody>
      </p:sp>
      <p:graphicFrame>
        <p:nvGraphicFramePr>
          <p:cNvPr id="9" name="Table 8"/>
          <p:cNvGraphicFramePr>
            <a:graphicFrameLocks noGrp="1"/>
          </p:cNvGraphicFramePr>
          <p:nvPr/>
        </p:nvGraphicFramePr>
        <p:xfrm>
          <a:off x="640080" y="5120640"/>
          <a:ext cx="5577840" cy="960120"/>
        </p:xfrm>
        <a:graphic>
          <a:graphicData uri="http://schemas.openxmlformats.org/drawingml/2006/table">
            <a:tbl>
              <a:tblPr>
                <a:tableStyleId>{2D5ABB26-0587-4C30-8999-92F81FD0307C}</a:tableStyleId>
              </a:tblPr>
              <a:tblGrid>
                <a:gridCol w="36576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320040">
                <a:tc>
                  <a:txBody>
                    <a:bodyPr/>
                    <a:lstStyle/>
                    <a:p>
                      <a:pPr algn="l"/>
                      <a:r>
                        <a:rPr sz="1200" b="1">
                          <a:solidFill>
                            <a:srgbClr val="141414"/>
                          </a:solidFill>
                          <a:latin typeface="Arial"/>
                        </a:rPr>
                        <a:t>TextGrad in their Table 1</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00" b="1">
                          <a:solidFill>
                            <a:srgbClr val="141414"/>
                          </a:solidFill>
                          <a:latin typeface="Arial"/>
                        </a:rPr>
                        <a:t>Score</a:t>
                      </a:r>
                    </a:p>
                  </a:txBody>
                  <a:tcPr marL="82296" marR="82296" marT="27432" marB="27432" anchor="ctr">
                    <a:lnB w="9525" cap="flat" cmpd="sng" algn="ctr">
                      <a:solidFill>
                        <a:srgbClr val="D8D8D8"/>
                      </a:solidFill>
                      <a:prstDash val="solid"/>
                    </a:lnB>
                    <a:solidFill>
                      <a:srgbClr val="F4F4F4"/>
                    </a:solidFill>
                  </a:tcPr>
                </a:tc>
                <a:extLst>
                  <a:ext uri="{0D108BD9-81ED-4DB2-BD59-A6C34878D82A}">
                    <a16:rowId xmlns:a16="http://schemas.microsoft.com/office/drawing/2014/main" val="10000"/>
                  </a:ext>
                </a:extLst>
              </a:tr>
              <a:tr h="320040">
                <a:tc>
                  <a:txBody>
                    <a:bodyPr/>
                    <a:lstStyle/>
                    <a:p>
                      <a:pPr algn="l"/>
                      <a:r>
                        <a:rPr sz="1200" b="0">
                          <a:solidFill>
                            <a:srgbClr val="141414"/>
                          </a:solidFill>
                          <a:latin typeface="Arial"/>
                        </a:rPr>
                        <a:t>Qwen3.6 LiveMath</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1">
                          <a:solidFill>
                            <a:srgbClr val="B3121B"/>
                          </a:solidFill>
                          <a:latin typeface="Arial"/>
                        </a:rPr>
                        <a:t>−24.0</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320040">
                <a:tc>
                  <a:txBody>
                    <a:bodyPr/>
                    <a:lstStyle/>
                    <a:p>
                      <a:pPr algn="l"/>
                      <a:r>
                        <a:rPr sz="1200" b="0">
                          <a:solidFill>
                            <a:srgbClr val="141414"/>
                          </a:solidFill>
                          <a:latin typeface="Arial"/>
                        </a:rPr>
                        <a:t>Ablation: no edit budget</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1">
                          <a:solidFill>
                            <a:srgbClr val="B3121B"/>
                          </a:solidFill>
                          <a:latin typeface="Arial"/>
                        </a:rPr>
                        <a:t>84.6 vs 87.1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0" name="TextBox 9"/>
          <p:cNvSpPr txBox="1"/>
          <p:nvPr/>
        </p:nvSpPr>
        <p:spPr>
          <a:xfrm>
            <a:off x="6675120" y="1691640"/>
            <a:ext cx="4876495" cy="292608"/>
          </a:xfrm>
          <a:prstGeom prst="rect">
            <a:avLst/>
          </a:prstGeom>
          <a:noFill/>
        </p:spPr>
        <p:txBody>
          <a:bodyPr wrap="square" lIns="0" tIns="0" rIns="0" bIns="0">
            <a:spAutoFit/>
          </a:bodyPr>
          <a:lstStyle/>
          <a:p>
            <a:pPr algn="l"/>
            <a:r>
              <a:rPr sz="1800" b="1" i="0">
                <a:solidFill>
                  <a:srgbClr val="141414"/>
                </a:solidFill>
                <a:latin typeface="Cambria"/>
              </a:rPr>
              <a:t>What it claims</a:t>
            </a:r>
          </a:p>
        </p:txBody>
      </p:sp>
      <p:sp>
        <p:nvSpPr>
          <p:cNvPr id="11" name="Rectangle 10"/>
          <p:cNvSpPr/>
          <p:nvPr/>
        </p:nvSpPr>
        <p:spPr>
          <a:xfrm>
            <a:off x="6675120" y="2084831"/>
            <a:ext cx="4876495" cy="685800"/>
          </a:xfrm>
          <a:prstGeom prst="rect">
            <a:avLst/>
          </a:prstGeom>
          <a:noFill/>
          <a:ln w="25400">
            <a:solidFill>
              <a:srgbClr val="B3121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876288" y="2231136"/>
            <a:ext cx="4419295" cy="457200"/>
          </a:xfrm>
          <a:prstGeom prst="rect">
            <a:avLst/>
          </a:prstGeom>
          <a:noFill/>
        </p:spPr>
        <p:txBody>
          <a:bodyPr wrap="square" lIns="0" tIns="0" rIns="0" bIns="0">
            <a:spAutoFit/>
          </a:bodyPr>
          <a:lstStyle/>
          <a:p>
            <a:pPr algn="l">
              <a:lnSpc>
                <a:spcPts val="1700"/>
              </a:lnSpc>
            </a:pPr>
            <a:r>
              <a:rPr sz="1300" b="1" i="0">
                <a:solidFill>
                  <a:srgbClr val="B3121B"/>
                </a:solidFill>
                <a:latin typeface="Cambria"/>
              </a:rPr>
              <a:t>“The first systematic controllable text-space</a:t>
            </a:r>
          </a:p>
          <a:p>
            <a:pPr algn="l">
              <a:lnSpc>
                <a:spcPts val="1700"/>
              </a:lnSpc>
            </a:pPr>
            <a:r>
              <a:rPr sz="1300" b="1" i="0">
                <a:solidFill>
                  <a:srgbClr val="B3121B"/>
                </a:solidFill>
                <a:latin typeface="Cambria"/>
              </a:rPr>
              <a:t>optimizer for agent skills”</a:t>
            </a:r>
          </a:p>
        </p:txBody>
      </p:sp>
      <p:sp>
        <p:nvSpPr>
          <p:cNvPr id="13" name="TextBox 12"/>
          <p:cNvSpPr txBox="1"/>
          <p:nvPr/>
        </p:nvSpPr>
        <p:spPr>
          <a:xfrm>
            <a:off x="6675120" y="2971800"/>
            <a:ext cx="4876495" cy="2377440"/>
          </a:xfrm>
          <a:prstGeom prst="rect">
            <a:avLst/>
          </a:prstGeom>
          <a:noFill/>
        </p:spPr>
        <p:txBody>
          <a:bodyPr wrap="square" lIns="0" tIns="0" rIns="0" bIns="0">
            <a:spAutoFit/>
          </a:bodyPr>
          <a:lstStyle/>
          <a:p>
            <a:pPr marL="182880" indent="-182880">
              <a:lnSpc>
                <a:spcPts val="1600"/>
              </a:lnSpc>
              <a:spcAft>
                <a:spcPts val="700"/>
              </a:spcAft>
              <a:buChar char="•"/>
            </a:pPr>
            <a:r>
              <a:rPr sz="1250">
                <a:solidFill>
                  <a:srgbClr val="141414"/>
                </a:solidFill>
                <a:latin typeface="Arial"/>
              </a:rPr>
              <a:t>Best or tied-best on 52 of 52 cells</a:t>
            </a:r>
          </a:p>
          <a:p>
            <a:pPr marL="182880" indent="-182880">
              <a:lnSpc>
                <a:spcPts val="1600"/>
              </a:lnSpc>
              <a:spcAft>
                <a:spcPts val="700"/>
              </a:spcAft>
              <a:buChar char="•"/>
            </a:pPr>
            <a:r>
              <a:rPr sz="1250">
                <a:solidFill>
                  <a:srgbClr val="141414"/>
                </a:solidFill>
                <a:latin typeface="Arial"/>
              </a:rPr>
              <a:t>GPT-5.5: +23.5 direct chat, +24.8 Codex, +19.1 Claude Code</a:t>
            </a:r>
          </a:p>
          <a:p>
            <a:pPr marL="182880" indent="-182880">
              <a:lnSpc>
                <a:spcPts val="1600"/>
              </a:lnSpc>
              <a:spcAft>
                <a:spcPts val="700"/>
              </a:spcAft>
              <a:buChar char="•"/>
            </a:pPr>
            <a:r>
              <a:rPr sz="1250">
                <a:solidFill>
                  <a:srgbClr val="141414"/>
                </a:solidFill>
                <a:latin typeface="Arial"/>
              </a:rPr>
              <a:t>+5.4 over the best per-cell baseline of six methods</a:t>
            </a:r>
          </a:p>
          <a:p>
            <a:pPr marL="182880" indent="-182880">
              <a:lnSpc>
                <a:spcPts val="1600"/>
              </a:lnSpc>
              <a:spcAft>
                <a:spcPts val="700"/>
              </a:spcAft>
              <a:buChar char="•"/>
            </a:pPr>
            <a:r>
              <a:rPr sz="1250">
                <a:solidFill>
                  <a:srgbClr val="141414"/>
                </a:solidFill>
                <a:latin typeface="Arial"/>
              </a:rPr>
              <a:t>Compact artifact, 300–2,000 tokens, zero inference overhead</a:t>
            </a:r>
          </a:p>
          <a:p>
            <a:pPr marL="182880" indent="-182880">
              <a:lnSpc>
                <a:spcPts val="1600"/>
              </a:lnSpc>
              <a:spcAft>
                <a:spcPts val="700"/>
              </a:spcAft>
              <a:buChar char="•"/>
            </a:pPr>
            <a:r>
              <a:rPr sz="1250">
                <a:solidFill>
                  <a:srgbClr val="141414"/>
                </a:solidFill>
                <a:latin typeface="Arial"/>
              </a:rPr>
              <a:t>Transfers across model scale, harness, and nearby benchmarks</a:t>
            </a:r>
          </a:p>
        </p:txBody>
      </p:sp>
      <p:sp>
        <p:nvSpPr>
          <p:cNvPr id="14" name="TextBox 13"/>
          <p:cNvSpPr txBox="1"/>
          <p:nvPr/>
        </p:nvSpPr>
        <p:spPr>
          <a:xfrm>
            <a:off x="6675120" y="5486400"/>
            <a:ext cx="4876495" cy="685800"/>
          </a:xfrm>
          <a:prstGeom prst="rect">
            <a:avLst/>
          </a:prstGeom>
          <a:noFill/>
        </p:spPr>
        <p:txBody>
          <a:bodyPr wrap="square" lIns="0" tIns="0" rIns="0" bIns="0">
            <a:spAutoFit/>
          </a:bodyPr>
          <a:lstStyle/>
          <a:p>
            <a:pPr algn="l">
              <a:lnSpc>
                <a:spcPts val="1800"/>
              </a:lnSpc>
            </a:pPr>
            <a:r>
              <a:rPr sz="1350" b="0" i="1">
                <a:solidFill>
                  <a:srgbClr val="141414"/>
                </a:solidFill>
                <a:latin typeface="Cambria"/>
              </a:rPr>
              <a:t>Three of these are the ones we test:</a:t>
            </a:r>
          </a:p>
          <a:p>
            <a:pPr algn="l">
              <a:lnSpc>
                <a:spcPts val="1800"/>
              </a:lnSpc>
            </a:pPr>
            <a:r>
              <a:rPr sz="1350" b="0" i="1">
                <a:solidFill>
                  <a:srgbClr val="141414"/>
                </a:solidFill>
                <a:latin typeface="Cambria"/>
              </a:rPr>
              <a:t>52/52 · beats expert humans · compact.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03 — SKILLOPT</a:t>
            </a:r>
          </a:p>
        </p:txBody>
      </p:sp>
      <p:sp>
        <p:nvSpPr>
          <p:cNvPr id="3" name="TextBox 2"/>
          <p:cNvSpPr txBox="1"/>
          <p:nvPr/>
        </p:nvSpPr>
        <p:spPr>
          <a:xfrm>
            <a:off x="640080" y="841248"/>
            <a:ext cx="10911535" cy="731520"/>
          </a:xfrm>
          <a:prstGeom prst="rect">
            <a:avLst/>
          </a:prstGeom>
          <a:noFill/>
        </p:spPr>
        <p:txBody>
          <a:bodyPr wrap="square" lIns="0" tIns="0" rIns="0" bIns="0">
            <a:spAutoFit/>
          </a:bodyPr>
          <a:lstStyle/>
          <a:p>
            <a:pPr algn="l"/>
            <a:r>
              <a:rPr sz="3200" b="1" i="0">
                <a:solidFill>
                  <a:srgbClr val="141414"/>
                </a:solidFill>
                <a:latin typeface="Cambria"/>
              </a:rPr>
              <a:t>How the loop is set up</a:t>
            </a:r>
          </a:p>
        </p:txBody>
      </p:sp>
      <p:graphicFrame>
        <p:nvGraphicFramePr>
          <p:cNvPr id="4" name="Table 3"/>
          <p:cNvGraphicFramePr>
            <a:graphicFrameLocks noGrp="1"/>
          </p:cNvGraphicFramePr>
          <p:nvPr>
            <p:extLst>
              <p:ext uri="{D42A27DB-BD31-4B8C-83A1-F6EECF244321}">
                <p14:modId xmlns:p14="http://schemas.microsoft.com/office/powerpoint/2010/main" val="1787050787"/>
              </p:ext>
            </p:extLst>
          </p:nvPr>
        </p:nvGraphicFramePr>
        <p:xfrm>
          <a:off x="640080" y="1691640"/>
          <a:ext cx="5029200" cy="2560320"/>
        </p:xfrm>
        <a:graphic>
          <a:graphicData uri="http://schemas.openxmlformats.org/drawingml/2006/table">
            <a:tbl>
              <a:tblPr>
                <a:tableStyleId>{2D5ABB26-0587-4C30-8999-92F81FD0307C}</a:tableStyleId>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20040">
                <a:tc>
                  <a:txBody>
                    <a:bodyPr/>
                    <a:lstStyle/>
                    <a:p>
                      <a:pPr algn="l"/>
                      <a:r>
                        <a:rPr sz="1250" b="1">
                          <a:solidFill>
                            <a:srgbClr val="141414"/>
                          </a:solidFill>
                          <a:latin typeface="Arial"/>
                        </a:rPr>
                        <a:t>Deep learning</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SkillOpt</a:t>
                      </a:r>
                    </a:p>
                  </a:txBody>
                  <a:tcPr marL="82296" marR="82296" marT="27432" marB="27432" anchor="ctr">
                    <a:lnB w="9525" cap="flat" cmpd="sng" algn="ctr">
                      <a:solidFill>
                        <a:srgbClr val="D8D8D8"/>
                      </a:solidFill>
                      <a:prstDash val="solid"/>
                    </a:lnB>
                    <a:solidFill>
                      <a:srgbClr val="F4F4F4"/>
                    </a:solidFill>
                  </a:tcPr>
                </a:tc>
                <a:extLst>
                  <a:ext uri="{0D108BD9-81ED-4DB2-BD59-A6C34878D82A}">
                    <a16:rowId xmlns:a16="http://schemas.microsoft.com/office/drawing/2014/main" val="10000"/>
                  </a:ext>
                </a:extLst>
              </a:tr>
              <a:tr h="320040">
                <a:tc>
                  <a:txBody>
                    <a:bodyPr/>
                    <a:lstStyle/>
                    <a:p>
                      <a:pPr algn="l"/>
                      <a:r>
                        <a:rPr sz="1250" b="0">
                          <a:solidFill>
                            <a:srgbClr val="141414"/>
                          </a:solidFill>
                          <a:latin typeface="Arial"/>
                        </a:rPr>
                        <a:t>parameters</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the skill document</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320040">
                <a:tc>
                  <a:txBody>
                    <a:bodyPr/>
                    <a:lstStyle/>
                    <a:p>
                      <a:pPr algn="l"/>
                      <a:r>
                        <a:rPr sz="1250" b="0">
                          <a:solidFill>
                            <a:srgbClr val="141414"/>
                          </a:solidFill>
                          <a:latin typeface="Arial"/>
                        </a:rPr>
                        <a:t>gradient</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trajectory-derived edit</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2"/>
                  </a:ext>
                </a:extLst>
              </a:tr>
              <a:tr h="320040">
                <a:tc>
                  <a:txBody>
                    <a:bodyPr/>
                    <a:lstStyle/>
                    <a:p>
                      <a:pPr algn="l"/>
                      <a:r>
                        <a:rPr sz="1250" b="0">
                          <a:solidFill>
                            <a:srgbClr val="141414"/>
                          </a:solidFill>
                          <a:latin typeface="Arial"/>
                        </a:rPr>
                        <a:t>learning rate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dirty="0">
                          <a:solidFill>
                            <a:srgbClr val="141414"/>
                          </a:solidFill>
                          <a:latin typeface="Arial"/>
                        </a:rPr>
                        <a:t>edit budget </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r>
                        <a:rPr sz="1250" b="0">
                          <a:solidFill>
                            <a:srgbClr val="141414"/>
                          </a:solidFill>
                          <a:latin typeface="Arial"/>
                        </a:rPr>
                        <a:t>schedule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constant / linear / cosine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4"/>
                  </a:ext>
                </a:extLst>
              </a:tr>
              <a:tr h="320040">
                <a:tc>
                  <a:txBody>
                    <a:bodyPr/>
                    <a:lstStyle/>
                    <a:p>
                      <a:pPr algn="l"/>
                      <a:r>
                        <a:rPr sz="1250" b="0">
                          <a:solidFill>
                            <a:srgbClr val="141414"/>
                          </a:solidFill>
                          <a:latin typeface="Arial"/>
                        </a:rPr>
                        <a:t>validation</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held-out selection gate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5"/>
                  </a:ext>
                </a:extLst>
              </a:tr>
              <a:tr h="320040">
                <a:tc>
                  <a:txBody>
                    <a:bodyPr/>
                    <a:lstStyle/>
                    <a:p>
                      <a:pPr algn="l"/>
                      <a:r>
                        <a:rPr sz="1250" b="0">
                          <a:solidFill>
                            <a:srgbClr val="141414"/>
                          </a:solidFill>
                          <a:latin typeface="Arial"/>
                        </a:rPr>
                        <a:t>momentum</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epoch-wise slow update</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6"/>
                  </a:ext>
                </a:extLst>
              </a:tr>
              <a:tr h="320040">
                <a:tc>
                  <a:txBody>
                    <a:bodyPr/>
                    <a:lstStyle/>
                    <a:p>
                      <a:pPr algn="l"/>
                      <a:r>
                        <a:rPr sz="1250" b="0">
                          <a:solidFill>
                            <a:srgbClr val="141414"/>
                          </a:solidFill>
                          <a:latin typeface="Arial"/>
                        </a:rPr>
                        <a:t>checkpoint</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dirty="0">
                          <a:solidFill>
                            <a:srgbClr val="141414"/>
                          </a:solidFill>
                          <a:latin typeface="Arial"/>
                        </a:rPr>
                        <a:t>best_skill.md</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40080" y="4343400"/>
            <a:ext cx="5029200" cy="1371600"/>
          </a:xfrm>
          <a:prstGeom prst="rect">
            <a:avLst/>
          </a:prstGeom>
          <a:noFill/>
        </p:spPr>
        <p:txBody>
          <a:bodyPr wrap="square" lIns="0" tIns="0" rIns="0" bIns="0">
            <a:spAutoFit/>
          </a:bodyPr>
          <a:lstStyle/>
          <a:p>
            <a:pPr algn="l">
              <a:lnSpc>
                <a:spcPts val="1700"/>
              </a:lnSpc>
            </a:pPr>
            <a:r>
              <a:rPr sz="1250" b="0" i="1">
                <a:solidFill>
                  <a:srgbClr val="6E6E6E"/>
                </a:solidFill>
                <a:latin typeface="Arial"/>
              </a:rPr>
              <a:t>The analogy is operational, not decorative — that is</a:t>
            </a:r>
          </a:p>
          <a:p>
            <a:pPr algn="l">
              <a:lnSpc>
                <a:spcPts val="1700"/>
              </a:lnSpc>
            </a:pPr>
            <a:r>
              <a:rPr sz="1250" b="0" i="1">
                <a:solidFill>
                  <a:srgbClr val="6E6E6E"/>
                </a:solidFill>
                <a:latin typeface="Arial"/>
              </a:rPr>
              <a:t>the paper's own framing, and it is the standard</a:t>
            </a:r>
          </a:p>
          <a:p>
            <a:pPr algn="l">
              <a:lnSpc>
                <a:spcPts val="1700"/>
              </a:lnSpc>
            </a:pPr>
            <a:r>
              <a:rPr sz="1250" b="0" i="1">
                <a:solidFill>
                  <a:srgbClr val="6E6E6E"/>
                </a:solidFill>
                <a:latin typeface="Arial"/>
              </a:rPr>
              <a:t>we hold it to later.</a:t>
            </a:r>
          </a:p>
        </p:txBody>
      </p:sp>
      <p:sp>
        <p:nvSpPr>
          <p:cNvPr id="6" name="TextBox 5"/>
          <p:cNvSpPr txBox="1"/>
          <p:nvPr/>
        </p:nvSpPr>
        <p:spPr>
          <a:xfrm>
            <a:off x="6080760" y="1691640"/>
            <a:ext cx="5470855" cy="292608"/>
          </a:xfrm>
          <a:prstGeom prst="rect">
            <a:avLst/>
          </a:prstGeom>
          <a:noFill/>
        </p:spPr>
        <p:txBody>
          <a:bodyPr wrap="square" lIns="0" tIns="0" rIns="0" bIns="0">
            <a:spAutoFit/>
          </a:bodyPr>
          <a:lstStyle/>
          <a:p>
            <a:pPr algn="l"/>
            <a:r>
              <a:rPr sz="1800" b="1" i="0">
                <a:solidFill>
                  <a:srgbClr val="141414"/>
                </a:solidFill>
                <a:latin typeface="Cambria"/>
              </a:rPr>
              <a:t>One optimization step</a:t>
            </a:r>
          </a:p>
        </p:txBody>
      </p:sp>
      <p:sp>
        <p:nvSpPr>
          <p:cNvPr id="7" name="TextBox 6"/>
          <p:cNvSpPr txBox="1"/>
          <p:nvPr/>
        </p:nvSpPr>
        <p:spPr>
          <a:xfrm>
            <a:off x="6080760" y="2103120"/>
            <a:ext cx="274320" cy="256032"/>
          </a:xfrm>
          <a:prstGeom prst="rect">
            <a:avLst/>
          </a:prstGeom>
          <a:noFill/>
        </p:spPr>
        <p:txBody>
          <a:bodyPr wrap="square" lIns="0" tIns="0" rIns="0" bIns="0">
            <a:spAutoFit/>
          </a:bodyPr>
          <a:lstStyle/>
          <a:p>
            <a:pPr algn="l"/>
            <a:r>
              <a:rPr sz="1200" b="1" i="0">
                <a:solidFill>
                  <a:srgbClr val="B3121B"/>
                </a:solidFill>
                <a:latin typeface="Arial"/>
              </a:rPr>
              <a:t>1</a:t>
            </a:r>
          </a:p>
        </p:txBody>
      </p:sp>
      <p:sp>
        <p:nvSpPr>
          <p:cNvPr id="8" name="TextBox 7"/>
          <p:cNvSpPr txBox="1"/>
          <p:nvPr/>
        </p:nvSpPr>
        <p:spPr>
          <a:xfrm>
            <a:off x="6373368" y="2103120"/>
            <a:ext cx="5059375" cy="411480"/>
          </a:xfrm>
          <a:prstGeom prst="rect">
            <a:avLst/>
          </a:prstGeom>
          <a:noFill/>
        </p:spPr>
        <p:txBody>
          <a:bodyPr wrap="square" lIns="0" tIns="0" rIns="0" bIns="0">
            <a:spAutoFit/>
          </a:bodyPr>
          <a:lstStyle/>
          <a:p>
            <a:pPr algn="l">
              <a:lnSpc>
                <a:spcPts val="1500"/>
              </a:lnSpc>
            </a:pPr>
            <a:r>
              <a:rPr sz="1250" b="0" i="0">
                <a:solidFill>
                  <a:srgbClr val="141414"/>
                </a:solidFill>
                <a:latin typeface="Arial"/>
              </a:rPr>
              <a:t>Target model runs a rollout batch of 40 with the current skill</a:t>
            </a:r>
          </a:p>
        </p:txBody>
      </p:sp>
      <p:sp>
        <p:nvSpPr>
          <p:cNvPr id="9" name="TextBox 8"/>
          <p:cNvSpPr txBox="1"/>
          <p:nvPr/>
        </p:nvSpPr>
        <p:spPr>
          <a:xfrm>
            <a:off x="6080760" y="2578608"/>
            <a:ext cx="274320" cy="256032"/>
          </a:xfrm>
          <a:prstGeom prst="rect">
            <a:avLst/>
          </a:prstGeom>
          <a:noFill/>
        </p:spPr>
        <p:txBody>
          <a:bodyPr wrap="square" lIns="0" tIns="0" rIns="0" bIns="0">
            <a:spAutoFit/>
          </a:bodyPr>
          <a:lstStyle/>
          <a:p>
            <a:pPr algn="l"/>
            <a:r>
              <a:rPr sz="1200" b="1" i="0">
                <a:solidFill>
                  <a:srgbClr val="B3121B"/>
                </a:solidFill>
                <a:latin typeface="Arial"/>
              </a:rPr>
              <a:t>2</a:t>
            </a:r>
          </a:p>
        </p:txBody>
      </p:sp>
      <p:sp>
        <p:nvSpPr>
          <p:cNvPr id="10" name="TextBox 9"/>
          <p:cNvSpPr txBox="1"/>
          <p:nvPr/>
        </p:nvSpPr>
        <p:spPr>
          <a:xfrm>
            <a:off x="6373368" y="2578608"/>
            <a:ext cx="5059375" cy="411480"/>
          </a:xfrm>
          <a:prstGeom prst="rect">
            <a:avLst/>
          </a:prstGeom>
          <a:noFill/>
        </p:spPr>
        <p:txBody>
          <a:bodyPr wrap="square" lIns="0" tIns="0" rIns="0" bIns="0">
            <a:spAutoFit/>
          </a:bodyPr>
          <a:lstStyle/>
          <a:p>
            <a:pPr algn="l">
              <a:lnSpc>
                <a:spcPts val="1500"/>
              </a:lnSpc>
            </a:pPr>
            <a:r>
              <a:rPr sz="1250" b="0" i="0">
                <a:solidFill>
                  <a:srgbClr val="141414"/>
                </a:solidFill>
                <a:latin typeface="Arial"/>
              </a:rPr>
              <a:t>Optimizer model reflects on failure and success minibatches of 8</a:t>
            </a:r>
          </a:p>
        </p:txBody>
      </p:sp>
      <p:sp>
        <p:nvSpPr>
          <p:cNvPr id="11" name="TextBox 10"/>
          <p:cNvSpPr txBox="1"/>
          <p:nvPr/>
        </p:nvSpPr>
        <p:spPr>
          <a:xfrm>
            <a:off x="6080760" y="3054096"/>
            <a:ext cx="274320" cy="256032"/>
          </a:xfrm>
          <a:prstGeom prst="rect">
            <a:avLst/>
          </a:prstGeom>
          <a:noFill/>
        </p:spPr>
        <p:txBody>
          <a:bodyPr wrap="square" lIns="0" tIns="0" rIns="0" bIns="0">
            <a:spAutoFit/>
          </a:bodyPr>
          <a:lstStyle/>
          <a:p>
            <a:pPr algn="l"/>
            <a:r>
              <a:rPr sz="1200" b="1" i="0">
                <a:solidFill>
                  <a:srgbClr val="B3121B"/>
                </a:solidFill>
                <a:latin typeface="Arial"/>
              </a:rPr>
              <a:t>3</a:t>
            </a:r>
          </a:p>
        </p:txBody>
      </p:sp>
      <p:sp>
        <p:nvSpPr>
          <p:cNvPr id="12" name="TextBox 11"/>
          <p:cNvSpPr txBox="1"/>
          <p:nvPr/>
        </p:nvSpPr>
        <p:spPr>
          <a:xfrm>
            <a:off x="6373368" y="3054096"/>
            <a:ext cx="5059375" cy="411480"/>
          </a:xfrm>
          <a:prstGeom prst="rect">
            <a:avLst/>
          </a:prstGeom>
          <a:noFill/>
        </p:spPr>
        <p:txBody>
          <a:bodyPr wrap="square" lIns="0" tIns="0" rIns="0" bIns="0">
            <a:spAutoFit/>
          </a:bodyPr>
          <a:lstStyle/>
          <a:p>
            <a:pPr algn="l">
              <a:lnSpc>
                <a:spcPts val="1500"/>
              </a:lnSpc>
            </a:pPr>
            <a:r>
              <a:rPr sz="1250" b="0" i="0">
                <a:solidFill>
                  <a:srgbClr val="141414"/>
                </a:solidFill>
                <a:latin typeface="Arial"/>
              </a:rPr>
              <a:t>Proposes add / insert_after / replace / delete edits as JSON</a:t>
            </a:r>
          </a:p>
        </p:txBody>
      </p:sp>
      <p:sp>
        <p:nvSpPr>
          <p:cNvPr id="13" name="TextBox 12"/>
          <p:cNvSpPr txBox="1"/>
          <p:nvPr/>
        </p:nvSpPr>
        <p:spPr>
          <a:xfrm>
            <a:off x="6080760" y="3529584"/>
            <a:ext cx="274320" cy="256032"/>
          </a:xfrm>
          <a:prstGeom prst="rect">
            <a:avLst/>
          </a:prstGeom>
          <a:noFill/>
        </p:spPr>
        <p:txBody>
          <a:bodyPr wrap="square" lIns="0" tIns="0" rIns="0" bIns="0">
            <a:spAutoFit/>
          </a:bodyPr>
          <a:lstStyle/>
          <a:p>
            <a:pPr algn="l"/>
            <a:r>
              <a:rPr sz="1200" b="1" i="0">
                <a:solidFill>
                  <a:srgbClr val="B3121B"/>
                </a:solidFill>
                <a:latin typeface="Arial"/>
              </a:rPr>
              <a:t>4</a:t>
            </a:r>
          </a:p>
        </p:txBody>
      </p:sp>
      <p:sp>
        <p:nvSpPr>
          <p:cNvPr id="14" name="TextBox 13"/>
          <p:cNvSpPr txBox="1"/>
          <p:nvPr/>
        </p:nvSpPr>
        <p:spPr>
          <a:xfrm>
            <a:off x="6373368" y="3529584"/>
            <a:ext cx="5059375" cy="411480"/>
          </a:xfrm>
          <a:prstGeom prst="rect">
            <a:avLst/>
          </a:prstGeom>
          <a:noFill/>
        </p:spPr>
        <p:txBody>
          <a:bodyPr wrap="square" lIns="0" tIns="0" rIns="0" bIns="0">
            <a:spAutoFit/>
          </a:bodyPr>
          <a:lstStyle/>
          <a:p>
            <a:pPr algn="l">
              <a:lnSpc>
                <a:spcPts val="1500"/>
              </a:lnSpc>
            </a:pPr>
            <a:r>
              <a:rPr sz="1250" b="0" i="0">
                <a:solidFill>
                  <a:srgbClr val="141414"/>
                </a:solidFill>
                <a:latin typeface="Arial"/>
              </a:rPr>
              <a:t>Merge, then rank, then clip to at most Lt = 4 edits</a:t>
            </a:r>
          </a:p>
        </p:txBody>
      </p:sp>
      <p:sp>
        <p:nvSpPr>
          <p:cNvPr id="15" name="TextBox 14"/>
          <p:cNvSpPr txBox="1"/>
          <p:nvPr/>
        </p:nvSpPr>
        <p:spPr>
          <a:xfrm>
            <a:off x="6080760" y="4005072"/>
            <a:ext cx="274320" cy="256032"/>
          </a:xfrm>
          <a:prstGeom prst="rect">
            <a:avLst/>
          </a:prstGeom>
          <a:noFill/>
        </p:spPr>
        <p:txBody>
          <a:bodyPr wrap="square" lIns="0" tIns="0" rIns="0" bIns="0">
            <a:spAutoFit/>
          </a:bodyPr>
          <a:lstStyle/>
          <a:p>
            <a:pPr algn="l"/>
            <a:r>
              <a:rPr sz="1200" b="1" i="0">
                <a:solidFill>
                  <a:srgbClr val="B3121B"/>
                </a:solidFill>
                <a:latin typeface="Arial"/>
              </a:rPr>
              <a:t>5</a:t>
            </a:r>
          </a:p>
        </p:txBody>
      </p:sp>
      <p:sp>
        <p:nvSpPr>
          <p:cNvPr id="16" name="TextBox 15"/>
          <p:cNvSpPr txBox="1"/>
          <p:nvPr/>
        </p:nvSpPr>
        <p:spPr>
          <a:xfrm>
            <a:off x="6373368" y="4005072"/>
            <a:ext cx="5059375" cy="411480"/>
          </a:xfrm>
          <a:prstGeom prst="rect">
            <a:avLst/>
          </a:prstGeom>
          <a:noFill/>
        </p:spPr>
        <p:txBody>
          <a:bodyPr wrap="square" lIns="0" tIns="0" rIns="0" bIns="0">
            <a:spAutoFit/>
          </a:bodyPr>
          <a:lstStyle/>
          <a:p>
            <a:pPr algn="l">
              <a:lnSpc>
                <a:spcPts val="1500"/>
              </a:lnSpc>
            </a:pPr>
            <a:r>
              <a:rPr sz="1250" b="0" i="0">
                <a:solidFill>
                  <a:srgbClr val="141414"/>
                </a:solidFill>
                <a:latin typeface="Arial"/>
              </a:rPr>
              <a:t>Evaluate the candidate on the selection split</a:t>
            </a:r>
          </a:p>
        </p:txBody>
      </p:sp>
      <p:sp>
        <p:nvSpPr>
          <p:cNvPr id="17" name="TextBox 16"/>
          <p:cNvSpPr txBox="1"/>
          <p:nvPr/>
        </p:nvSpPr>
        <p:spPr>
          <a:xfrm>
            <a:off x="6080760" y="4480560"/>
            <a:ext cx="274320" cy="256032"/>
          </a:xfrm>
          <a:prstGeom prst="rect">
            <a:avLst/>
          </a:prstGeom>
          <a:noFill/>
        </p:spPr>
        <p:txBody>
          <a:bodyPr wrap="square" lIns="0" tIns="0" rIns="0" bIns="0">
            <a:spAutoFit/>
          </a:bodyPr>
          <a:lstStyle/>
          <a:p>
            <a:pPr algn="l"/>
            <a:r>
              <a:rPr sz="1200" b="1" i="0">
                <a:solidFill>
                  <a:srgbClr val="B3121B"/>
                </a:solidFill>
                <a:latin typeface="Arial"/>
              </a:rPr>
              <a:t>6</a:t>
            </a:r>
          </a:p>
        </p:txBody>
      </p:sp>
      <p:sp>
        <p:nvSpPr>
          <p:cNvPr id="18" name="TextBox 17"/>
          <p:cNvSpPr txBox="1"/>
          <p:nvPr/>
        </p:nvSpPr>
        <p:spPr>
          <a:xfrm>
            <a:off x="6373368" y="4480560"/>
            <a:ext cx="5059375" cy="411480"/>
          </a:xfrm>
          <a:prstGeom prst="rect">
            <a:avLst/>
          </a:prstGeom>
          <a:noFill/>
        </p:spPr>
        <p:txBody>
          <a:bodyPr wrap="square" lIns="0" tIns="0" rIns="0" bIns="0">
            <a:spAutoFit/>
          </a:bodyPr>
          <a:lstStyle/>
          <a:p>
            <a:pPr algn="l">
              <a:lnSpc>
                <a:spcPts val="1500"/>
              </a:lnSpc>
            </a:pPr>
            <a:r>
              <a:rPr sz="1250" b="0" i="0">
                <a:solidFill>
                  <a:srgbClr val="141414"/>
                </a:solidFill>
                <a:latin typeface="Arial"/>
              </a:rPr>
              <a:t>Accept only if strictly better. Ties are rejected.</a:t>
            </a:r>
          </a:p>
        </p:txBody>
      </p:sp>
      <p:sp>
        <p:nvSpPr>
          <p:cNvPr id="19" name="TextBox 18"/>
          <p:cNvSpPr txBox="1"/>
          <p:nvPr/>
        </p:nvSpPr>
        <p:spPr>
          <a:xfrm>
            <a:off x="6080760" y="4956048"/>
            <a:ext cx="274320" cy="256032"/>
          </a:xfrm>
          <a:prstGeom prst="rect">
            <a:avLst/>
          </a:prstGeom>
          <a:noFill/>
        </p:spPr>
        <p:txBody>
          <a:bodyPr wrap="square" lIns="0" tIns="0" rIns="0" bIns="0">
            <a:spAutoFit/>
          </a:bodyPr>
          <a:lstStyle/>
          <a:p>
            <a:pPr algn="l"/>
            <a:r>
              <a:rPr sz="1200" b="1" i="0">
                <a:solidFill>
                  <a:srgbClr val="B3121B"/>
                </a:solidFill>
                <a:latin typeface="Arial"/>
              </a:rPr>
              <a:t>7</a:t>
            </a:r>
          </a:p>
        </p:txBody>
      </p:sp>
      <p:sp>
        <p:nvSpPr>
          <p:cNvPr id="20" name="TextBox 19"/>
          <p:cNvSpPr txBox="1"/>
          <p:nvPr/>
        </p:nvSpPr>
        <p:spPr>
          <a:xfrm>
            <a:off x="6373368" y="4956048"/>
            <a:ext cx="5059375" cy="411480"/>
          </a:xfrm>
          <a:prstGeom prst="rect">
            <a:avLst/>
          </a:prstGeom>
          <a:noFill/>
        </p:spPr>
        <p:txBody>
          <a:bodyPr wrap="square" lIns="0" tIns="0" rIns="0" bIns="0">
            <a:spAutoFit/>
          </a:bodyPr>
          <a:lstStyle/>
          <a:p>
            <a:pPr algn="l">
              <a:lnSpc>
                <a:spcPts val="1500"/>
              </a:lnSpc>
            </a:pPr>
            <a:r>
              <a:rPr sz="1250" b="0" i="0">
                <a:solidFill>
                  <a:srgbClr val="141414"/>
                </a:solidFill>
                <a:latin typeface="Arial"/>
              </a:rPr>
              <a:t>Rejected edits go to a buffer as negative feedback</a:t>
            </a:r>
          </a:p>
        </p:txBody>
      </p:sp>
      <p:sp>
        <p:nvSpPr>
          <p:cNvPr id="21" name="TextBox 20"/>
          <p:cNvSpPr txBox="1"/>
          <p:nvPr/>
        </p:nvSpPr>
        <p:spPr>
          <a:xfrm>
            <a:off x="6080760" y="5532120"/>
            <a:ext cx="5470855" cy="640080"/>
          </a:xfrm>
          <a:prstGeom prst="rect">
            <a:avLst/>
          </a:prstGeom>
          <a:noFill/>
        </p:spPr>
        <p:txBody>
          <a:bodyPr wrap="square" lIns="0" tIns="0" rIns="0" bIns="0">
            <a:spAutoFit/>
          </a:bodyPr>
          <a:lstStyle/>
          <a:p>
            <a:pPr algn="l">
              <a:lnSpc>
                <a:spcPts val="1500"/>
              </a:lnSpc>
            </a:pPr>
            <a:r>
              <a:rPr sz="1150" b="0" i="0">
                <a:solidFill>
                  <a:srgbClr val="6E6E6E"/>
                </a:solidFill>
                <a:latin typeface="Arial"/>
              </a:rPr>
              <a:t>4 epochs · cosine decay to floor 2 · split_seed 42 · protected</a:t>
            </a:r>
          </a:p>
          <a:p>
            <a:pPr algn="l">
              <a:lnSpc>
                <a:spcPts val="1500"/>
              </a:lnSpc>
            </a:pPr>
            <a:r>
              <a:rPr sz="1150" b="0" i="0">
                <a:solidFill>
                  <a:srgbClr val="6E6E6E"/>
                </a:solidFill>
                <a:latin typeface="Arial"/>
              </a:rPr>
              <a:t>slow-update region step edits cannot overwrite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04 — THE QUESTION</a:t>
            </a:r>
          </a:p>
        </p:txBody>
      </p:sp>
      <p:sp>
        <p:nvSpPr>
          <p:cNvPr id="3" name="TextBox 2"/>
          <p:cNvSpPr txBox="1"/>
          <p:nvPr/>
        </p:nvSpPr>
        <p:spPr>
          <a:xfrm>
            <a:off x="640080" y="841248"/>
            <a:ext cx="10911535" cy="731520"/>
          </a:xfrm>
          <a:prstGeom prst="rect">
            <a:avLst/>
          </a:prstGeom>
          <a:noFill/>
        </p:spPr>
        <p:txBody>
          <a:bodyPr wrap="square" lIns="0" tIns="0" rIns="0" bIns="0">
            <a:spAutoFit/>
          </a:bodyPr>
          <a:lstStyle/>
          <a:p>
            <a:pPr algn="l"/>
            <a:r>
              <a:rPr sz="3200" b="1" i="0">
                <a:solidFill>
                  <a:srgbClr val="141414"/>
                </a:solidFill>
                <a:latin typeface="Cambria"/>
              </a:rPr>
              <a:t>Is any of this necessary?</a:t>
            </a:r>
          </a:p>
        </p:txBody>
      </p:sp>
      <p:sp>
        <p:nvSpPr>
          <p:cNvPr id="4" name="TextBox 3"/>
          <p:cNvSpPr txBox="1"/>
          <p:nvPr/>
        </p:nvSpPr>
        <p:spPr>
          <a:xfrm>
            <a:off x="640080" y="1645920"/>
            <a:ext cx="5212080" cy="292608"/>
          </a:xfrm>
          <a:prstGeom prst="rect">
            <a:avLst/>
          </a:prstGeom>
          <a:noFill/>
        </p:spPr>
        <p:txBody>
          <a:bodyPr wrap="square" lIns="0" tIns="0" rIns="0" bIns="0">
            <a:spAutoFit/>
          </a:bodyPr>
          <a:lstStyle/>
          <a:p>
            <a:pPr algn="l"/>
            <a:r>
              <a:rPr sz="1700" b="1" i="0">
                <a:solidFill>
                  <a:srgbClr val="141414"/>
                </a:solidFill>
                <a:latin typeface="Cambria"/>
              </a:rPr>
              <a:t>What a good skill already takes</a:t>
            </a:r>
          </a:p>
        </p:txBody>
      </p:sp>
      <p:sp>
        <p:nvSpPr>
          <p:cNvPr id="5" name="TextBox 4"/>
          <p:cNvSpPr txBox="1"/>
          <p:nvPr/>
        </p:nvSpPr>
        <p:spPr>
          <a:xfrm>
            <a:off x="640080" y="2029968"/>
            <a:ext cx="5212080" cy="2011680"/>
          </a:xfrm>
          <a:prstGeom prst="rect">
            <a:avLst/>
          </a:prstGeom>
          <a:noFill/>
        </p:spPr>
        <p:txBody>
          <a:bodyPr wrap="square" lIns="0" tIns="0" rIns="0" bIns="0">
            <a:spAutoFit/>
          </a:bodyPr>
          <a:lstStyle/>
          <a:p>
            <a:pPr marL="182880" indent="-182880">
              <a:lnSpc>
                <a:spcPts val="1600"/>
              </a:lnSpc>
              <a:spcAft>
                <a:spcPts val="700"/>
              </a:spcAft>
              <a:buChar char="•"/>
            </a:pPr>
            <a:r>
              <a:rPr sz="1300">
                <a:solidFill>
                  <a:srgbClr val="141414"/>
                </a:solidFill>
                <a:latin typeface="Arial"/>
              </a:rPr>
              <a:t>Community-tested practice, iterated by many people in public</a:t>
            </a:r>
          </a:p>
          <a:p>
            <a:pPr marL="182880" indent="-182880">
              <a:lnSpc>
                <a:spcPts val="1600"/>
              </a:lnSpc>
              <a:spcAft>
                <a:spcPts val="700"/>
              </a:spcAft>
              <a:buChar char="•"/>
            </a:pPr>
            <a:r>
              <a:rPr sz="1300">
                <a:solidFill>
                  <a:srgbClr val="141414"/>
                </a:solidFill>
                <a:latin typeface="Arial"/>
              </a:rPr>
              <a:t>Free written guides — e.g. mattpocock's writing-great-skills</a:t>
            </a:r>
          </a:p>
          <a:p>
            <a:pPr marL="182880" indent="-182880">
              <a:lnSpc>
                <a:spcPts val="1600"/>
              </a:lnSpc>
              <a:spcAft>
                <a:spcPts val="700"/>
              </a:spcAft>
              <a:buChar char="•"/>
            </a:pPr>
            <a:r>
              <a:rPr sz="1300">
                <a:solidFill>
                  <a:srgbClr val="141414"/>
                </a:solidFill>
                <a:latin typeface="Arial"/>
              </a:rPr>
              <a:t>One domain expert, one afternoon</a:t>
            </a:r>
          </a:p>
          <a:p>
            <a:pPr marL="182880" indent="-182880">
              <a:lnSpc>
                <a:spcPts val="1600"/>
              </a:lnSpc>
              <a:spcAft>
                <a:spcPts val="700"/>
              </a:spcAft>
              <a:buChar char="•"/>
            </a:pPr>
            <a:r>
              <a:rPr sz="1300">
                <a:solidFill>
                  <a:srgbClr val="141414"/>
                </a:solidFill>
                <a:latin typeface="Arial"/>
              </a:rPr>
              <a:t>Human skills in the paper are 145–516 tokens</a:t>
            </a:r>
          </a:p>
        </p:txBody>
      </p:sp>
      <p:sp>
        <p:nvSpPr>
          <p:cNvPr id="6" name="TextBox 5"/>
          <p:cNvSpPr txBox="1"/>
          <p:nvPr/>
        </p:nvSpPr>
        <p:spPr>
          <a:xfrm>
            <a:off x="640080" y="4114800"/>
            <a:ext cx="5212080" cy="292608"/>
          </a:xfrm>
          <a:prstGeom prst="rect">
            <a:avLst/>
          </a:prstGeom>
          <a:noFill/>
        </p:spPr>
        <p:txBody>
          <a:bodyPr wrap="square" lIns="0" tIns="0" rIns="0" bIns="0">
            <a:spAutoFit/>
          </a:bodyPr>
          <a:lstStyle/>
          <a:p>
            <a:pPr algn="l"/>
            <a:r>
              <a:rPr sz="1700" b="1" i="0">
                <a:solidFill>
                  <a:srgbClr val="141414"/>
                </a:solidFill>
                <a:latin typeface="Cambria"/>
              </a:rPr>
              <a:t>And the baseline they beat</a:t>
            </a:r>
          </a:p>
        </p:txBody>
      </p:sp>
      <p:sp>
        <p:nvSpPr>
          <p:cNvPr id="7" name="TextBox 6"/>
          <p:cNvSpPr txBox="1"/>
          <p:nvPr/>
        </p:nvSpPr>
        <p:spPr>
          <a:xfrm>
            <a:off x="640080" y="4498848"/>
            <a:ext cx="5212080" cy="1645920"/>
          </a:xfrm>
          <a:prstGeom prst="rect">
            <a:avLst/>
          </a:prstGeom>
          <a:noFill/>
        </p:spPr>
        <p:txBody>
          <a:bodyPr wrap="square" lIns="0" tIns="0" rIns="0" bIns="0">
            <a:spAutoFit/>
          </a:bodyPr>
          <a:lstStyle/>
          <a:p>
            <a:pPr marL="182880" indent="-182880">
              <a:lnSpc>
                <a:spcPts val="1600"/>
              </a:lnSpc>
              <a:spcAft>
                <a:spcPts val="700"/>
              </a:spcAft>
              <a:buChar char="•"/>
            </a:pPr>
            <a:r>
              <a:rPr sz="1300">
                <a:solidFill>
                  <a:srgbClr val="141414"/>
                </a:solidFill>
                <a:latin typeface="Arial"/>
              </a:rPr>
              <a:t>Documented in exactly one clause: “curated per benchmark”</a:t>
            </a:r>
          </a:p>
          <a:p>
            <a:pPr marL="182880" indent="-182880">
              <a:lnSpc>
                <a:spcPts val="1600"/>
              </a:lnSpc>
              <a:spcAft>
                <a:spcPts val="700"/>
              </a:spcAft>
              <a:buChar char="•"/>
            </a:pPr>
            <a:r>
              <a:rPr sz="1300">
                <a:solidFill>
                  <a:srgbClr val="141414"/>
                </a:solidFill>
                <a:latin typeface="Arial"/>
              </a:rPr>
              <a:t>Never published — while all eight optimizer prompts are</a:t>
            </a:r>
          </a:p>
          <a:p>
            <a:pPr marL="182880" indent="-182880">
              <a:lnSpc>
                <a:spcPts val="1600"/>
              </a:lnSpc>
              <a:spcAft>
                <a:spcPts val="700"/>
              </a:spcAft>
              <a:buChar char="•"/>
            </a:pPr>
            <a:r>
              <a:rPr sz="1300">
                <a:solidFill>
                  <a:srgbClr val="141414"/>
                </a:solidFill>
                <a:latin typeface="Arial"/>
              </a:rPr>
              <a:t>Net negative on ALFWorld for five of seven models (−16.4 worst)</a:t>
            </a:r>
          </a:p>
        </p:txBody>
      </p:sp>
      <p:sp>
        <p:nvSpPr>
          <p:cNvPr id="8" name="TextBox 7"/>
          <p:cNvSpPr txBox="1"/>
          <p:nvPr/>
        </p:nvSpPr>
        <p:spPr>
          <a:xfrm>
            <a:off x="6309360" y="1645920"/>
            <a:ext cx="5242255" cy="292608"/>
          </a:xfrm>
          <a:prstGeom prst="rect">
            <a:avLst/>
          </a:prstGeom>
          <a:noFill/>
        </p:spPr>
        <p:txBody>
          <a:bodyPr wrap="square" lIns="0" tIns="0" rIns="0" bIns="0">
            <a:spAutoFit/>
          </a:bodyPr>
          <a:lstStyle/>
          <a:p>
            <a:pPr algn="l"/>
            <a:r>
              <a:rPr sz="1700" b="1" i="0">
                <a:solidFill>
                  <a:srgbClr val="141414"/>
                </a:solidFill>
                <a:latin typeface="Cambria"/>
              </a:rPr>
              <a:t>What SkillOpt takes</a:t>
            </a:r>
          </a:p>
        </p:txBody>
      </p:sp>
      <p:sp>
        <p:nvSpPr>
          <p:cNvPr id="9" name="Rectangle 8"/>
          <p:cNvSpPr/>
          <p:nvPr/>
        </p:nvSpPr>
        <p:spPr>
          <a:xfrm>
            <a:off x="6309360" y="2057400"/>
            <a:ext cx="2468880" cy="402336"/>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46520" y="2157984"/>
            <a:ext cx="2194560" cy="274320"/>
          </a:xfrm>
          <a:prstGeom prst="rect">
            <a:avLst/>
          </a:prstGeom>
          <a:noFill/>
        </p:spPr>
        <p:txBody>
          <a:bodyPr wrap="square" lIns="0" tIns="0" rIns="0" bIns="0">
            <a:spAutoFit/>
          </a:bodyPr>
          <a:lstStyle/>
          <a:p>
            <a:pPr algn="l"/>
            <a:r>
              <a:rPr sz="1250" b="1" i="0">
                <a:solidFill>
                  <a:srgbClr val="141414"/>
                </a:solidFill>
                <a:latin typeface="Arial"/>
              </a:rPr>
              <a:t>Meta prompt</a:t>
            </a:r>
          </a:p>
        </p:txBody>
      </p:sp>
      <p:sp>
        <p:nvSpPr>
          <p:cNvPr id="11" name="Rectangle 10"/>
          <p:cNvSpPr/>
          <p:nvPr/>
        </p:nvSpPr>
        <p:spPr>
          <a:xfrm>
            <a:off x="8915400" y="2057400"/>
            <a:ext cx="2468880" cy="402336"/>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052560" y="2157984"/>
            <a:ext cx="2194560" cy="274320"/>
          </a:xfrm>
          <a:prstGeom prst="rect">
            <a:avLst/>
          </a:prstGeom>
          <a:noFill/>
        </p:spPr>
        <p:txBody>
          <a:bodyPr wrap="square" lIns="0" tIns="0" rIns="0" bIns="0">
            <a:spAutoFit/>
          </a:bodyPr>
          <a:lstStyle/>
          <a:p>
            <a:pPr algn="l"/>
            <a:r>
              <a:rPr sz="1250" b="1" i="0">
                <a:solidFill>
                  <a:srgbClr val="141414"/>
                </a:solidFill>
                <a:latin typeface="Arial"/>
              </a:rPr>
              <a:t>Seed skill</a:t>
            </a:r>
          </a:p>
        </p:txBody>
      </p:sp>
      <p:sp>
        <p:nvSpPr>
          <p:cNvPr id="13" name="Rectangle 12"/>
          <p:cNvSpPr/>
          <p:nvPr/>
        </p:nvSpPr>
        <p:spPr>
          <a:xfrm>
            <a:off x="6309360" y="2560320"/>
            <a:ext cx="2468880" cy="402336"/>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46520" y="2660903"/>
            <a:ext cx="2194560" cy="274320"/>
          </a:xfrm>
          <a:prstGeom prst="rect">
            <a:avLst/>
          </a:prstGeom>
          <a:noFill/>
        </p:spPr>
        <p:txBody>
          <a:bodyPr wrap="square" lIns="0" tIns="0" rIns="0" bIns="0">
            <a:spAutoFit/>
          </a:bodyPr>
          <a:lstStyle/>
          <a:p>
            <a:pPr algn="l"/>
            <a:r>
              <a:rPr sz="1250" b="1" i="0">
                <a:solidFill>
                  <a:srgbClr val="141414"/>
                </a:solidFill>
                <a:latin typeface="Arial"/>
              </a:rPr>
              <a:t>Optimizer model</a:t>
            </a:r>
          </a:p>
        </p:txBody>
      </p:sp>
      <p:sp>
        <p:nvSpPr>
          <p:cNvPr id="15" name="Rectangle 14"/>
          <p:cNvSpPr/>
          <p:nvPr/>
        </p:nvSpPr>
        <p:spPr>
          <a:xfrm>
            <a:off x="8915400" y="2560320"/>
            <a:ext cx="2468880" cy="402336"/>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052560" y="2660903"/>
            <a:ext cx="2194560" cy="274320"/>
          </a:xfrm>
          <a:prstGeom prst="rect">
            <a:avLst/>
          </a:prstGeom>
          <a:noFill/>
        </p:spPr>
        <p:txBody>
          <a:bodyPr wrap="square" lIns="0" tIns="0" rIns="0" bIns="0">
            <a:spAutoFit/>
          </a:bodyPr>
          <a:lstStyle/>
          <a:p>
            <a:pPr algn="l"/>
            <a:r>
              <a:rPr sz="1250" b="1" i="0">
                <a:solidFill>
                  <a:srgbClr val="141414"/>
                </a:solidFill>
                <a:latin typeface="Arial"/>
              </a:rPr>
              <a:t>Target model</a:t>
            </a:r>
          </a:p>
        </p:txBody>
      </p:sp>
      <p:sp>
        <p:nvSpPr>
          <p:cNvPr id="17" name="Rectangle 16"/>
          <p:cNvSpPr/>
          <p:nvPr/>
        </p:nvSpPr>
        <p:spPr>
          <a:xfrm>
            <a:off x="6309360" y="3063240"/>
            <a:ext cx="2468880" cy="402336"/>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46520" y="3163824"/>
            <a:ext cx="2194560" cy="274320"/>
          </a:xfrm>
          <a:prstGeom prst="rect">
            <a:avLst/>
          </a:prstGeom>
          <a:noFill/>
        </p:spPr>
        <p:txBody>
          <a:bodyPr wrap="square" lIns="0" tIns="0" rIns="0" bIns="0">
            <a:spAutoFit/>
          </a:bodyPr>
          <a:lstStyle/>
          <a:p>
            <a:pPr algn="l"/>
            <a:r>
              <a:rPr sz="1250" b="1" i="0">
                <a:solidFill>
                  <a:srgbClr val="141414"/>
                </a:solidFill>
                <a:latin typeface="Arial"/>
              </a:rPr>
              <a:t>Task corpus</a:t>
            </a:r>
          </a:p>
        </p:txBody>
      </p:sp>
      <p:sp>
        <p:nvSpPr>
          <p:cNvPr id="19" name="Rectangle 18"/>
          <p:cNvSpPr/>
          <p:nvPr/>
        </p:nvSpPr>
        <p:spPr>
          <a:xfrm>
            <a:off x="8915400" y="3063240"/>
            <a:ext cx="2468880" cy="402336"/>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052560" y="3163824"/>
            <a:ext cx="2194560" cy="274320"/>
          </a:xfrm>
          <a:prstGeom prst="rect">
            <a:avLst/>
          </a:prstGeom>
          <a:noFill/>
        </p:spPr>
        <p:txBody>
          <a:bodyPr wrap="square" lIns="0" tIns="0" rIns="0" bIns="0">
            <a:spAutoFit/>
          </a:bodyPr>
          <a:lstStyle/>
          <a:p>
            <a:pPr algn="l"/>
            <a:r>
              <a:rPr sz="1250" b="1" i="0">
                <a:solidFill>
                  <a:srgbClr val="141414"/>
                </a:solidFill>
                <a:latin typeface="Arial"/>
              </a:rPr>
              <a:t>Automatic scorer</a:t>
            </a:r>
          </a:p>
        </p:txBody>
      </p:sp>
      <p:sp>
        <p:nvSpPr>
          <p:cNvPr id="21" name="Rectangle 20"/>
          <p:cNvSpPr/>
          <p:nvPr/>
        </p:nvSpPr>
        <p:spPr>
          <a:xfrm>
            <a:off x="6309360" y="3566160"/>
            <a:ext cx="2468880" cy="402336"/>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446520" y="3666744"/>
            <a:ext cx="2194560" cy="274320"/>
          </a:xfrm>
          <a:prstGeom prst="rect">
            <a:avLst/>
          </a:prstGeom>
          <a:noFill/>
        </p:spPr>
        <p:txBody>
          <a:bodyPr wrap="square" lIns="0" tIns="0" rIns="0" bIns="0">
            <a:spAutoFit/>
          </a:bodyPr>
          <a:lstStyle/>
          <a:p>
            <a:pPr algn="l"/>
            <a:r>
              <a:rPr sz="1250" b="1" i="0">
                <a:solidFill>
                  <a:srgbClr val="141414"/>
                </a:solidFill>
                <a:latin typeface="Arial"/>
              </a:rPr>
              <a:t>Hyperparameters</a:t>
            </a:r>
          </a:p>
        </p:txBody>
      </p:sp>
      <p:sp>
        <p:nvSpPr>
          <p:cNvPr id="23" name="Rectangle 22"/>
          <p:cNvSpPr/>
          <p:nvPr/>
        </p:nvSpPr>
        <p:spPr>
          <a:xfrm>
            <a:off x="6309360" y="4114800"/>
            <a:ext cx="5242255" cy="1234440"/>
          </a:xfrm>
          <a:prstGeom prst="rect">
            <a:avLst/>
          </a:prstGeom>
          <a:noFill/>
          <a:ln w="25400">
            <a:solidFill>
              <a:srgbClr val="B3121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537960" y="4279392"/>
            <a:ext cx="4785055" cy="868680"/>
          </a:xfrm>
          <a:prstGeom prst="rect">
            <a:avLst/>
          </a:prstGeom>
          <a:noFill/>
        </p:spPr>
        <p:txBody>
          <a:bodyPr wrap="square" lIns="0" tIns="0" rIns="0" bIns="0">
            <a:spAutoFit/>
          </a:bodyPr>
          <a:lstStyle/>
          <a:p>
            <a:pPr algn="l">
              <a:lnSpc>
                <a:spcPts val="1900"/>
              </a:lnSpc>
            </a:pPr>
            <a:r>
              <a:rPr sz="1500" b="1" i="0">
                <a:solidFill>
                  <a:srgbClr val="B3121B"/>
                </a:solidFill>
                <a:latin typeface="Cambria"/>
              </a:rPr>
              <a:t>The meta prompt is written by a human anyway.</a:t>
            </a:r>
          </a:p>
          <a:p>
            <a:pPr algn="l">
              <a:lnSpc>
                <a:spcPts val="1900"/>
              </a:lnSpc>
            </a:pPr>
            <a:endParaRPr sz="1500" b="1" i="0">
              <a:solidFill>
                <a:srgbClr val="B3121B"/>
              </a:solidFill>
              <a:latin typeface="Cambria"/>
            </a:endParaRPr>
          </a:p>
          <a:p>
            <a:pPr algn="l">
              <a:lnSpc>
                <a:spcPts val="1900"/>
              </a:lnSpc>
            </a:pPr>
            <a:r>
              <a:rPr sz="1500" b="1" i="0">
                <a:solidFill>
                  <a:srgbClr val="B3121B"/>
                </a:solidFill>
                <a:latin typeface="Cambria"/>
              </a:rPr>
              <a:t>So what exactly is the “systematic” part?</a:t>
            </a:r>
          </a:p>
        </p:txBody>
      </p:sp>
      <p:sp>
        <p:nvSpPr>
          <p:cNvPr id="25" name="TextBox 24"/>
          <p:cNvSpPr txBox="1"/>
          <p:nvPr/>
        </p:nvSpPr>
        <p:spPr>
          <a:xfrm>
            <a:off x="6309360" y="5532120"/>
            <a:ext cx="5242255" cy="640080"/>
          </a:xfrm>
          <a:prstGeom prst="rect">
            <a:avLst/>
          </a:prstGeom>
          <a:noFill/>
        </p:spPr>
        <p:txBody>
          <a:bodyPr wrap="square" lIns="0" tIns="0" rIns="0" bIns="0">
            <a:spAutoFit/>
          </a:bodyPr>
          <a:lstStyle/>
          <a:p>
            <a:pPr algn="l">
              <a:lnSpc>
                <a:spcPts val="1600"/>
              </a:lnSpc>
            </a:pPr>
            <a:r>
              <a:rPr sz="1200" b="0" i="0">
                <a:solidFill>
                  <a:srgbClr val="141414"/>
                </a:solidFill>
                <a:latin typeface="Arial"/>
              </a:rPr>
              <a:t>Every item on that list is a surface that has to be built,</a:t>
            </a:r>
          </a:p>
          <a:p>
            <a:pPr algn="l">
              <a:lnSpc>
                <a:spcPts val="1600"/>
              </a:lnSpc>
            </a:pPr>
            <a:r>
              <a:rPr sz="1200" b="0" i="0">
                <a:solidFill>
                  <a:srgbClr val="141414"/>
                </a:solidFill>
                <a:latin typeface="Arial"/>
              </a:rPr>
              <a:t>tuned, and maintained before the loop can run at all.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05 — THE HEADLINE CLAIM</a:t>
            </a:r>
          </a:p>
        </p:txBody>
      </p:sp>
      <p:sp>
        <p:nvSpPr>
          <p:cNvPr id="3" name="TextBox 2"/>
          <p:cNvSpPr txBox="1"/>
          <p:nvPr/>
        </p:nvSpPr>
        <p:spPr>
          <a:xfrm>
            <a:off x="640080" y="841248"/>
            <a:ext cx="10911535" cy="731520"/>
          </a:xfrm>
          <a:prstGeom prst="rect">
            <a:avLst/>
          </a:prstGeom>
          <a:noFill/>
        </p:spPr>
        <p:txBody>
          <a:bodyPr wrap="square" lIns="0" tIns="0" rIns="0" bIns="0">
            <a:spAutoFit/>
          </a:bodyPr>
          <a:lstStyle/>
          <a:p>
            <a:pPr algn="l"/>
            <a:r>
              <a:rPr sz="3200" b="1" i="0">
                <a:solidFill>
                  <a:srgbClr val="141414"/>
                </a:solidFill>
                <a:latin typeface="Cambria"/>
              </a:rPr>
              <a:t>“Beats an expert human skill in just 1–4 edits”</a:t>
            </a:r>
          </a:p>
        </p:txBody>
      </p:sp>
      <p:sp>
        <p:nvSpPr>
          <p:cNvPr id="4" name="TextBox 3"/>
          <p:cNvSpPr txBox="1"/>
          <p:nvPr/>
        </p:nvSpPr>
        <p:spPr>
          <a:xfrm>
            <a:off x="640080" y="1645920"/>
            <a:ext cx="10911535" cy="320040"/>
          </a:xfrm>
          <a:prstGeom prst="rect">
            <a:avLst/>
          </a:prstGeom>
          <a:noFill/>
        </p:spPr>
        <p:txBody>
          <a:bodyPr wrap="square" lIns="0" tIns="0" rIns="0" bIns="0">
            <a:spAutoFit/>
          </a:bodyPr>
          <a:lstStyle/>
          <a:p>
            <a:pPr algn="l"/>
            <a:r>
              <a:rPr sz="1600" b="1" i="0">
                <a:solidFill>
                  <a:srgbClr val="B3121B"/>
                </a:solidFill>
                <a:latin typeface="Cambria"/>
              </a:rPr>
              <a:t>The number is not false. The sentence does not mean what it sounds like.</a:t>
            </a:r>
          </a:p>
        </p:txBody>
      </p:sp>
      <p:graphicFrame>
        <p:nvGraphicFramePr>
          <p:cNvPr id="5" name="Table 4"/>
          <p:cNvGraphicFramePr>
            <a:graphicFrameLocks noGrp="1"/>
          </p:cNvGraphicFramePr>
          <p:nvPr/>
        </p:nvGraphicFramePr>
        <p:xfrm>
          <a:off x="640080" y="2103120"/>
          <a:ext cx="5669280" cy="2356104"/>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320040">
                <a:tc>
                  <a:txBody>
                    <a:bodyPr/>
                    <a:lstStyle/>
                    <a:p>
                      <a:pPr algn="l"/>
                      <a:r>
                        <a:rPr sz="1250" b="1">
                          <a:solidFill>
                            <a:srgbClr val="141414"/>
                          </a:solidFill>
                          <a:latin typeface="Arial"/>
                        </a:rPr>
                        <a:t>Seed skill</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Initial (tok)</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Is it the expert skill?</a:t>
                      </a:r>
                    </a:p>
                  </a:txBody>
                  <a:tcPr marL="82296" marR="82296" marT="27432" marB="27432" anchor="ctr">
                    <a:lnB w="9525" cap="flat" cmpd="sng" algn="ctr">
                      <a:solidFill>
                        <a:srgbClr val="D8D8D8"/>
                      </a:solidFill>
                      <a:prstDash val="solid"/>
                    </a:lnB>
                    <a:solidFill>
                      <a:srgbClr val="F4F4F4"/>
                    </a:solidFill>
                  </a:tcPr>
                </a:tc>
                <a:extLst>
                  <a:ext uri="{0D108BD9-81ED-4DB2-BD59-A6C34878D82A}">
                    <a16:rowId xmlns:a16="http://schemas.microsoft.com/office/drawing/2014/main" val="10000"/>
                  </a:ext>
                </a:extLst>
              </a:tr>
              <a:tr h="320040">
                <a:tc>
                  <a:txBody>
                    <a:bodyPr/>
                    <a:lstStyle/>
                    <a:p>
                      <a:pPr algn="l"/>
                      <a:r>
                        <a:rPr sz="1250" b="0">
                          <a:solidFill>
                            <a:srgbClr val="141414"/>
                          </a:solidFill>
                          <a:latin typeface="Arial"/>
                        </a:rPr>
                        <a:t>SearchQA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16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no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320040">
                <a:tc>
                  <a:txBody>
                    <a:bodyPr/>
                    <a:lstStyle/>
                    <a:p>
                      <a:pPr algn="l"/>
                      <a:r>
                        <a:rPr sz="1250" b="0">
                          <a:solidFill>
                            <a:srgbClr val="141414"/>
                          </a:solidFill>
                          <a:latin typeface="Arial"/>
                        </a:rPr>
                        <a:t>DocVQA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81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no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2"/>
                  </a:ext>
                </a:extLst>
              </a:tr>
              <a:tr h="320040">
                <a:tc>
                  <a:txBody>
                    <a:bodyPr/>
                    <a:lstStyle/>
                    <a:p>
                      <a:pPr algn="l"/>
                      <a:r>
                        <a:rPr sz="1250" b="0">
                          <a:solidFill>
                            <a:srgbClr val="141414"/>
                          </a:solidFill>
                          <a:latin typeface="Arial"/>
                        </a:rPr>
                        <a:t>OfficeQA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145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no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r>
                        <a:rPr sz="1250" b="0">
                          <a:solidFill>
                            <a:srgbClr val="141414"/>
                          </a:solidFill>
                          <a:latin typeface="Arial"/>
                        </a:rPr>
                        <a:t>LiveMath</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154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no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4"/>
                  </a:ext>
                </a:extLst>
              </a:tr>
              <a:tr h="320040">
                <a:tc>
                  <a:txBody>
                    <a:bodyPr/>
                    <a:lstStyle/>
                    <a:p>
                      <a:pPr algn="l"/>
                      <a:r>
                        <a:rPr sz="1250" b="0">
                          <a:solidFill>
                            <a:srgbClr val="141414"/>
                          </a:solidFill>
                          <a:latin typeface="Arial"/>
                        </a:rPr>
                        <a:t>SpreadsheetBench</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224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no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5"/>
                  </a:ext>
                </a:extLst>
              </a:tr>
              <a:tr h="320040">
                <a:tc>
                  <a:txBody>
                    <a:bodyPr/>
                    <a:lstStyle/>
                    <a:p>
                      <a:pPr algn="l"/>
                      <a:r>
                        <a:rPr sz="1250" b="0">
                          <a:solidFill>
                            <a:srgbClr val="141414"/>
                          </a:solidFill>
                          <a:latin typeface="Arial"/>
                        </a:rPr>
                        <a:t>ALFWorld</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516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no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58367" y="4614672"/>
            <a:ext cx="5669280" cy="914400"/>
          </a:xfrm>
          <a:prstGeom prst="rect">
            <a:avLst/>
          </a:prstGeom>
          <a:noFill/>
        </p:spPr>
        <p:txBody>
          <a:bodyPr wrap="square" lIns="0" tIns="0" rIns="0" bIns="0">
            <a:spAutoFit/>
          </a:bodyPr>
          <a:lstStyle/>
          <a:p>
            <a:pPr algn="l">
              <a:lnSpc>
                <a:spcPts val="1700"/>
              </a:lnSpc>
            </a:pPr>
            <a:r>
              <a:rPr sz="1300" b="0" i="0" dirty="0">
                <a:solidFill>
                  <a:srgbClr val="141414"/>
                </a:solidFill>
                <a:latin typeface="Arial"/>
              </a:rPr>
              <a:t>They never once seed from the expert skill. So the claim is</a:t>
            </a:r>
          </a:p>
          <a:p>
            <a:pPr algn="l">
              <a:lnSpc>
                <a:spcPts val="1700"/>
              </a:lnSpc>
            </a:pPr>
            <a:r>
              <a:rPr sz="1300" b="0" i="0" dirty="0">
                <a:solidFill>
                  <a:srgbClr val="141414"/>
                </a:solidFill>
                <a:latin typeface="Arial"/>
              </a:rPr>
              <a:t>“grew from a 16-token stub and finished above a separate</a:t>
            </a:r>
          </a:p>
          <a:p>
            <a:pPr algn="l">
              <a:lnSpc>
                <a:spcPts val="1700"/>
              </a:lnSpc>
            </a:pPr>
            <a:r>
              <a:rPr sz="1300" b="0" i="0" dirty="0">
                <a:solidFill>
                  <a:srgbClr val="141414"/>
                </a:solidFill>
                <a:latin typeface="Arial"/>
              </a:rPr>
              <a:t>undocumented document” — not “improved an expert skill.”</a:t>
            </a:r>
          </a:p>
        </p:txBody>
      </p:sp>
      <p:sp>
        <p:nvSpPr>
          <p:cNvPr id="7" name="Rectangle 6"/>
          <p:cNvSpPr/>
          <p:nvPr/>
        </p:nvSpPr>
        <p:spPr>
          <a:xfrm>
            <a:off x="640080" y="5440680"/>
            <a:ext cx="5669280" cy="685800"/>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41247" y="5596128"/>
            <a:ext cx="5303520" cy="411480"/>
          </a:xfrm>
          <a:prstGeom prst="rect">
            <a:avLst/>
          </a:prstGeom>
          <a:noFill/>
        </p:spPr>
        <p:txBody>
          <a:bodyPr wrap="square" lIns="0" tIns="0" rIns="0" bIns="0">
            <a:spAutoFit/>
          </a:bodyPr>
          <a:lstStyle/>
          <a:p>
            <a:pPr algn="l"/>
            <a:r>
              <a:rPr sz="1350" b="1" i="0">
                <a:solidFill>
                  <a:srgbClr val="141414"/>
                </a:solidFill>
                <a:latin typeface="Cambria"/>
              </a:rPr>
              <a:t>The missing experiment is one line of config. It does not exist.</a:t>
            </a:r>
          </a:p>
        </p:txBody>
      </p:sp>
      <p:sp>
        <p:nvSpPr>
          <p:cNvPr id="9" name="TextBox 8"/>
          <p:cNvSpPr txBox="1"/>
          <p:nvPr/>
        </p:nvSpPr>
        <p:spPr>
          <a:xfrm>
            <a:off x="6766560" y="1645920"/>
            <a:ext cx="4785055" cy="0"/>
          </a:xfrm>
          <a:prstGeom prst="rect">
            <a:avLst/>
          </a:prstGeom>
          <a:noFill/>
        </p:spPr>
        <p:txBody>
          <a:bodyPr wrap="square" lIns="0" tIns="0" rIns="0" bIns="0">
            <a:spAutoFit/>
          </a:bodyPr>
          <a:lstStyle/>
          <a:p>
            <a:pPr algn="l"/>
            <a:endParaRPr/>
          </a:p>
        </p:txBody>
      </p:sp>
      <p:graphicFrame>
        <p:nvGraphicFramePr>
          <p:cNvPr id="10" name="Table 9"/>
          <p:cNvGraphicFramePr>
            <a:graphicFrameLocks noGrp="1"/>
          </p:cNvGraphicFramePr>
          <p:nvPr/>
        </p:nvGraphicFramePr>
        <p:xfrm>
          <a:off x="6766560" y="2103120"/>
          <a:ext cx="4782311" cy="2240280"/>
        </p:xfrm>
        <a:graphic>
          <a:graphicData uri="http://schemas.openxmlformats.org/drawingml/2006/table">
            <a:tbl>
              <a:tblPr>
                <a:tableStyleId>{2D5ABB26-0587-4C30-8999-92F81FD0307C}</a:tableStyleId>
              </a:tblPr>
              <a:tblGrid>
                <a:gridCol w="17830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33271">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20040">
                <a:tc>
                  <a:txBody>
                    <a:bodyPr/>
                    <a:lstStyle/>
                    <a:p>
                      <a:pPr algn="l"/>
                      <a:r>
                        <a:rPr sz="1200" b="1">
                          <a:solidFill>
                            <a:srgbClr val="141414"/>
                          </a:solidFill>
                          <a:latin typeface="Arial"/>
                        </a:rPr>
                        <a:t>Marginal vs human</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00" b="1">
                          <a:solidFill>
                            <a:srgbClr val="141414"/>
                          </a:solidFill>
                          <a:latin typeface="Arial"/>
                        </a:rPr>
                        <a:t>Human</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00" b="1">
                          <a:solidFill>
                            <a:srgbClr val="141414"/>
                          </a:solidFill>
                          <a:latin typeface="Arial"/>
                        </a:rPr>
                        <a:t>SkillOpt</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00" b="1">
                          <a:solidFill>
                            <a:srgbClr val="141414"/>
                          </a:solidFill>
                          <a:latin typeface="Arial"/>
                        </a:rPr>
                        <a:t>Δ</a:t>
                      </a:r>
                    </a:p>
                  </a:txBody>
                  <a:tcPr marL="82296" marR="82296" marT="27432" marB="27432" anchor="ctr">
                    <a:lnB w="9525" cap="flat" cmpd="sng" algn="ctr">
                      <a:solidFill>
                        <a:srgbClr val="D8D8D8"/>
                      </a:solidFill>
                      <a:prstDash val="solid"/>
                    </a:lnB>
                    <a:solidFill>
                      <a:srgbClr val="F4F4F4"/>
                    </a:solidFill>
                  </a:tcPr>
                </a:tc>
                <a:extLst>
                  <a:ext uri="{0D108BD9-81ED-4DB2-BD59-A6C34878D82A}">
                    <a16:rowId xmlns:a16="http://schemas.microsoft.com/office/drawing/2014/main" val="10000"/>
                  </a:ext>
                </a:extLst>
              </a:tr>
              <a:tr h="320040">
                <a:tc>
                  <a:txBody>
                    <a:bodyPr/>
                    <a:lstStyle/>
                    <a:p>
                      <a:pPr algn="l"/>
                      <a:r>
                        <a:rPr sz="1200" b="0">
                          <a:solidFill>
                            <a:srgbClr val="141414"/>
                          </a:solidFill>
                          <a:latin typeface="Arial"/>
                        </a:rPr>
                        <a:t>LiveMath</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38.4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66.9</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1">
                          <a:solidFill>
                            <a:srgbClr val="B3121B"/>
                          </a:solidFill>
                          <a:latin typeface="Arial"/>
                        </a:rPr>
                        <a:t>+28.5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320040">
                <a:tc>
                  <a:txBody>
                    <a:bodyPr/>
                    <a:lstStyle/>
                    <a:p>
                      <a:pPr algn="l"/>
                      <a:r>
                        <a:rPr sz="1200" b="0">
                          <a:solidFill>
                            <a:srgbClr val="141414"/>
                          </a:solidFill>
                          <a:latin typeface="Arial"/>
                        </a:rPr>
                        <a:t>SpreadsheetBench</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72.9</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80.7</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+7.8</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2"/>
                  </a:ext>
                </a:extLst>
              </a:tr>
              <a:tr h="320040">
                <a:tc>
                  <a:txBody>
                    <a:bodyPr/>
                    <a:lstStyle/>
                    <a:p>
                      <a:pPr algn="l"/>
                      <a:r>
                        <a:rPr sz="1200" b="0">
                          <a:solidFill>
                            <a:srgbClr val="141414"/>
                          </a:solidFill>
                          <a:latin typeface="Arial"/>
                        </a:rPr>
                        <a:t>SearchQA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81.8</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87.3</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+5.5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r>
                        <a:rPr sz="1200" b="0">
                          <a:solidFill>
                            <a:srgbClr val="141414"/>
                          </a:solidFill>
                          <a:latin typeface="Arial"/>
                        </a:rPr>
                        <a:t>OfficeQA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66.9</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72.1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+5.2</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4"/>
                  </a:ext>
                </a:extLst>
              </a:tr>
              <a:tr h="320040">
                <a:tc>
                  <a:txBody>
                    <a:bodyPr/>
                    <a:lstStyle/>
                    <a:p>
                      <a:pPr algn="l"/>
                      <a:r>
                        <a:rPr sz="1200" b="0">
                          <a:solidFill>
                            <a:srgbClr val="141414"/>
                          </a:solidFill>
                          <a:latin typeface="Arial"/>
                        </a:rPr>
                        <a:t>ALFWorld</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91.8</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95.5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+3.7</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5"/>
                  </a:ext>
                </a:extLst>
              </a:tr>
              <a:tr h="320040">
                <a:tc>
                  <a:txBody>
                    <a:bodyPr/>
                    <a:lstStyle/>
                    <a:p>
                      <a:pPr algn="l"/>
                      <a:r>
                        <a:rPr sz="1200" b="0">
                          <a:solidFill>
                            <a:srgbClr val="141414"/>
                          </a:solidFill>
                          <a:latin typeface="Arial"/>
                        </a:rPr>
                        <a:t>DocVQA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90.1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0">
                          <a:solidFill>
                            <a:srgbClr val="141414"/>
                          </a:solidFill>
                          <a:latin typeface="Arial"/>
                        </a:rPr>
                        <a:t>91.2</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00" b="1">
                          <a:solidFill>
                            <a:srgbClr val="B3121B"/>
                          </a:solidFill>
                          <a:latin typeface="Arial"/>
                        </a:rPr>
                        <a:t>+1.1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6766560" y="4434840"/>
            <a:ext cx="4785055" cy="1737360"/>
          </a:xfrm>
          <a:prstGeom prst="rect">
            <a:avLst/>
          </a:prstGeom>
          <a:noFill/>
        </p:spPr>
        <p:txBody>
          <a:bodyPr wrap="square" lIns="0" tIns="0" rIns="0" bIns="0">
            <a:spAutoFit/>
          </a:bodyPr>
          <a:lstStyle/>
          <a:p>
            <a:pPr marL="182880" indent="-182880">
              <a:lnSpc>
                <a:spcPts val="1600"/>
              </a:lnSpc>
              <a:spcAft>
                <a:spcPts val="700"/>
              </a:spcAft>
              <a:buChar char="•"/>
            </a:pPr>
            <a:r>
              <a:rPr sz="1200">
                <a:solidFill>
                  <a:srgbClr val="141414"/>
                </a:solidFill>
                <a:latin typeface="Arial"/>
              </a:rPr>
              <a:t>LiveMath alone supplies 28.5 of the 51.8 total marginal points — and it is the one benchmark where the human skill delivered +0.8</a:t>
            </a:r>
          </a:p>
          <a:p>
            <a:pPr marL="182880" indent="-182880">
              <a:lnSpc>
                <a:spcPts val="1600"/>
              </a:lnSpc>
              <a:spcAft>
                <a:spcPts val="700"/>
              </a:spcAft>
              <a:buChar char="•"/>
            </a:pPr>
            <a:r>
              <a:rPr sz="1200">
                <a:solidFill>
                  <a:srgbClr val="141414"/>
                </a:solidFill>
                <a:latin typeface="Arial"/>
              </a:rPr>
              <a:t>Drop it and the advantage over hand-writing is +4.7</a:t>
            </a:r>
          </a:p>
          <a:p>
            <a:pPr marL="182880" indent="-182880">
              <a:lnSpc>
                <a:spcPts val="1600"/>
              </a:lnSpc>
              <a:spcAft>
                <a:spcPts val="700"/>
              </a:spcAft>
              <a:buChar char="•"/>
            </a:pPr>
            <a:r>
              <a:rPr sz="1200">
                <a:solidFill>
                  <a:srgbClr val="141414"/>
                </a:solidFill>
                <a:latin typeface="Arial"/>
              </a:rPr>
              <a:t>526.7M training tokens total. DocVQA costs 171M per marginal point.</a:t>
            </a:r>
          </a:p>
        </p:txBody>
      </p:sp>
      <p:sp>
        <p:nvSpPr>
          <p:cNvPr id="12" name="TextBox 11"/>
          <p:cNvSpPr txBox="1"/>
          <p:nvPr/>
        </p:nvSpPr>
        <p:spPr>
          <a:xfrm>
            <a:off x="640080" y="6309360"/>
            <a:ext cx="10911535" cy="274320"/>
          </a:xfrm>
          <a:prstGeom prst="rect">
            <a:avLst/>
          </a:prstGeom>
          <a:noFill/>
        </p:spPr>
        <p:txBody>
          <a:bodyPr wrap="square" lIns="0" tIns="0" rIns="0" bIns="0">
            <a:spAutoFit/>
          </a:bodyPr>
          <a:lstStyle/>
          <a:p>
            <a:pPr algn="l"/>
            <a:r>
              <a:rPr sz="1000" b="0" i="1">
                <a:solidFill>
                  <a:srgbClr val="6E6E6E"/>
                </a:solidFill>
                <a:latin typeface="Arial"/>
              </a:rPr>
              <a:t>Seeds and training tokens: Table 6. Scores: Table 1. Marginal figures computed from both.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06 — BREVITY</a:t>
            </a:r>
          </a:p>
        </p:txBody>
      </p:sp>
      <p:sp>
        <p:nvSpPr>
          <p:cNvPr id="3" name="TextBox 2"/>
          <p:cNvSpPr txBox="1"/>
          <p:nvPr/>
        </p:nvSpPr>
        <p:spPr>
          <a:xfrm>
            <a:off x="640080" y="841248"/>
            <a:ext cx="10911535" cy="731520"/>
          </a:xfrm>
          <a:prstGeom prst="rect">
            <a:avLst/>
          </a:prstGeom>
          <a:noFill/>
        </p:spPr>
        <p:txBody>
          <a:bodyPr wrap="square" lIns="0" tIns="0" rIns="0" bIns="0">
            <a:spAutoFit/>
          </a:bodyPr>
          <a:lstStyle/>
          <a:p>
            <a:pPr algn="l"/>
            <a:r>
              <a:rPr sz="3200" b="1" i="0">
                <a:solidFill>
                  <a:srgbClr val="141414"/>
                </a:solidFill>
                <a:latin typeface="Cambria"/>
              </a:rPr>
              <a:t>Nothing in the objective rewards it</a:t>
            </a:r>
          </a:p>
        </p:txBody>
      </p:sp>
      <p:graphicFrame>
        <p:nvGraphicFramePr>
          <p:cNvPr id="4" name="Table 3"/>
          <p:cNvGraphicFramePr>
            <a:graphicFrameLocks noGrp="1"/>
          </p:cNvGraphicFramePr>
          <p:nvPr/>
        </p:nvGraphicFramePr>
        <p:xfrm>
          <a:off x="640080" y="1691640"/>
          <a:ext cx="5852160" cy="2240280"/>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320040">
                <a:tc>
                  <a:txBody>
                    <a:bodyPr/>
                    <a:lstStyle/>
                    <a:p>
                      <a:pPr algn="l"/>
                      <a:r>
                        <a:rPr sz="1250" b="1">
                          <a:solidFill>
                            <a:srgbClr val="141414"/>
                          </a:solidFill>
                          <a:latin typeface="Arial"/>
                        </a:rPr>
                        <a:t>Benchmark</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Initial</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Final</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Edits</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Growth</a:t>
                      </a:r>
                    </a:p>
                  </a:txBody>
                  <a:tcPr marL="82296" marR="82296" marT="27432" marB="27432" anchor="ctr">
                    <a:lnB w="9525" cap="flat" cmpd="sng" algn="ctr">
                      <a:solidFill>
                        <a:srgbClr val="D8D8D8"/>
                      </a:solidFill>
                      <a:prstDash val="solid"/>
                    </a:lnB>
                    <a:solidFill>
                      <a:srgbClr val="F4F4F4"/>
                    </a:solidFill>
                  </a:tcPr>
                </a:tc>
                <a:extLst>
                  <a:ext uri="{0D108BD9-81ED-4DB2-BD59-A6C34878D82A}">
                    <a16:rowId xmlns:a16="http://schemas.microsoft.com/office/drawing/2014/main" val="10000"/>
                  </a:ext>
                </a:extLst>
              </a:tr>
              <a:tr h="320040">
                <a:tc>
                  <a:txBody>
                    <a:bodyPr/>
                    <a:lstStyle/>
                    <a:p>
                      <a:pPr algn="l"/>
                      <a:r>
                        <a:rPr sz="1250" b="0">
                          <a:solidFill>
                            <a:srgbClr val="141414"/>
                          </a:solidFill>
                          <a:latin typeface="Arial"/>
                        </a:rPr>
                        <a:t>SearchQA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857</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×53.6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320040">
                <a:tc>
                  <a:txBody>
                    <a:bodyPr/>
                    <a:lstStyle/>
                    <a:p>
                      <a:pPr algn="l"/>
                      <a:r>
                        <a:rPr sz="1250" b="0">
                          <a:solidFill>
                            <a:srgbClr val="141414"/>
                          </a:solidFill>
                          <a:latin typeface="Arial"/>
                        </a:rPr>
                        <a:t>SpreadsheetBench</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224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1,995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×8.9</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2"/>
                  </a:ext>
                </a:extLst>
              </a:tr>
              <a:tr h="320040">
                <a:tc>
                  <a:txBody>
                    <a:bodyPr/>
                    <a:lstStyle/>
                    <a:p>
                      <a:pPr algn="l"/>
                      <a:r>
                        <a:rPr sz="1250" b="0">
                          <a:solidFill>
                            <a:srgbClr val="141414"/>
                          </a:solidFill>
                          <a:latin typeface="Arial"/>
                        </a:rPr>
                        <a:t>OfficeQA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145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883</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×6.1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r>
                        <a:rPr sz="1250" b="0">
                          <a:solidFill>
                            <a:srgbClr val="141414"/>
                          </a:solidFill>
                          <a:latin typeface="Arial"/>
                        </a:rPr>
                        <a:t>DocVQA</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81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959</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3</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×11.8</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4"/>
                  </a:ext>
                </a:extLst>
              </a:tr>
              <a:tr h="320040">
                <a:tc>
                  <a:txBody>
                    <a:bodyPr/>
                    <a:lstStyle/>
                    <a:p>
                      <a:pPr algn="l"/>
                      <a:r>
                        <a:rPr sz="1250" b="0">
                          <a:solidFill>
                            <a:srgbClr val="141414"/>
                          </a:solidFill>
                          <a:latin typeface="Arial"/>
                        </a:rPr>
                        <a:t>LiveMath</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154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379</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×2.5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5"/>
                  </a:ext>
                </a:extLst>
              </a:tr>
              <a:tr h="320040">
                <a:tc>
                  <a:txBody>
                    <a:bodyPr/>
                    <a:lstStyle/>
                    <a:p>
                      <a:pPr algn="l"/>
                      <a:r>
                        <a:rPr sz="1250" b="0">
                          <a:solidFill>
                            <a:srgbClr val="141414"/>
                          </a:solidFill>
                          <a:latin typeface="Arial"/>
                        </a:rPr>
                        <a:t>ALFWorld</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516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1,321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2</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×2.6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640080" y="4069080"/>
            <a:ext cx="5852160" cy="548640"/>
          </a:xfrm>
          <a:prstGeom prst="rect">
            <a:avLst/>
          </a:prstGeom>
          <a:noFill/>
        </p:spPr>
        <p:txBody>
          <a:bodyPr wrap="square" lIns="0" tIns="0" rIns="0" bIns="0">
            <a:spAutoFit/>
          </a:bodyPr>
          <a:lstStyle/>
          <a:p>
            <a:pPr algn="l">
              <a:lnSpc>
                <a:spcPts val="1900"/>
              </a:lnSpc>
            </a:pPr>
            <a:r>
              <a:rPr sz="1500" b="1" i="0">
                <a:solidFill>
                  <a:srgbClr val="141414"/>
                </a:solidFill>
                <a:latin typeface="Cambria"/>
              </a:rPr>
              <a:t>Human skills: 145–516 tokens.  Learned skills: 379–1,995.</a:t>
            </a:r>
          </a:p>
          <a:p>
            <a:pPr algn="l">
              <a:lnSpc>
                <a:spcPts val="1900"/>
              </a:lnSpc>
            </a:pPr>
            <a:r>
              <a:rPr sz="1500" b="1" i="0">
                <a:solidFill>
                  <a:srgbClr val="141414"/>
                </a:solidFill>
                <a:latin typeface="Cambria"/>
              </a:rPr>
              <a:t>Every single one ends larger than it started.</a:t>
            </a:r>
          </a:p>
        </p:txBody>
      </p:sp>
      <p:sp>
        <p:nvSpPr>
          <p:cNvPr id="6" name="TextBox 5"/>
          <p:cNvSpPr txBox="1"/>
          <p:nvPr/>
        </p:nvSpPr>
        <p:spPr>
          <a:xfrm>
            <a:off x="6949440" y="1691640"/>
            <a:ext cx="4602175" cy="292608"/>
          </a:xfrm>
          <a:prstGeom prst="rect">
            <a:avLst/>
          </a:prstGeom>
          <a:noFill/>
        </p:spPr>
        <p:txBody>
          <a:bodyPr wrap="square" lIns="0" tIns="0" rIns="0" bIns="0">
            <a:spAutoFit/>
          </a:bodyPr>
          <a:lstStyle/>
          <a:p>
            <a:pPr algn="l"/>
            <a:r>
              <a:rPr sz="1800" b="1" i="0">
                <a:solidFill>
                  <a:srgbClr val="141414"/>
                </a:solidFill>
                <a:latin typeface="Cambria"/>
              </a:rPr>
              <a:t>Why — from their own prompts</a:t>
            </a:r>
          </a:p>
        </p:txBody>
      </p:sp>
      <p:sp>
        <p:nvSpPr>
          <p:cNvPr id="7" name="TextBox 6"/>
          <p:cNvSpPr txBox="1"/>
          <p:nvPr/>
        </p:nvSpPr>
        <p:spPr>
          <a:xfrm>
            <a:off x="6949440" y="2103120"/>
            <a:ext cx="4602175" cy="2468880"/>
          </a:xfrm>
          <a:prstGeom prst="rect">
            <a:avLst/>
          </a:prstGeom>
          <a:noFill/>
        </p:spPr>
        <p:txBody>
          <a:bodyPr wrap="square" lIns="0" tIns="0" rIns="0" bIns="0">
            <a:spAutoFit/>
          </a:bodyPr>
          <a:lstStyle/>
          <a:p>
            <a:pPr marL="182880" indent="-182880">
              <a:lnSpc>
                <a:spcPts val="1600"/>
              </a:lnSpc>
              <a:spcAft>
                <a:spcPts val="700"/>
              </a:spcAft>
              <a:buChar char="•"/>
            </a:pPr>
            <a:r>
              <a:rPr sz="1200">
                <a:solidFill>
                  <a:srgbClr val="141414"/>
                </a:solidFill>
                <a:latin typeface="Arial"/>
              </a:rPr>
              <a:t>The ranking prompt scores edits on impact, complementarity, generality, actionability. There is no length criterion.</a:t>
            </a:r>
          </a:p>
          <a:p>
            <a:pPr marL="182880" indent="-182880">
              <a:lnSpc>
                <a:spcPts val="1600"/>
              </a:lnSpc>
              <a:spcAft>
                <a:spcPts val="700"/>
              </a:spcAft>
              <a:buChar char="•"/>
            </a:pPr>
            <a:r>
              <a:rPr sz="1200">
                <a:solidFill>
                  <a:srgbClr val="141414"/>
                </a:solidFill>
                <a:latin typeface="Arial"/>
              </a:rPr>
              <a:t>Both analyst prompts are framed as gap-filling: “only patch gaps,” “patterns NOT already covered.”</a:t>
            </a:r>
          </a:p>
          <a:p>
            <a:pPr marL="182880" indent="-182880">
              <a:lnSpc>
                <a:spcPts val="1600"/>
              </a:lnSpc>
              <a:spcAft>
                <a:spcPts val="700"/>
              </a:spcAft>
              <a:buChar char="•"/>
            </a:pPr>
            <a:r>
              <a:rPr sz="1200">
                <a:solidFill>
                  <a:srgbClr val="141414"/>
                </a:solidFill>
                <a:latin typeface="Arial"/>
              </a:rPr>
              <a:t>delete is in the JSON schema, but no prompt ever asks the model to look for removable text.</a:t>
            </a:r>
          </a:p>
          <a:p>
            <a:pPr marL="182880" indent="-182880">
              <a:lnSpc>
                <a:spcPts val="1600"/>
              </a:lnSpc>
              <a:spcAft>
                <a:spcPts val="700"/>
              </a:spcAft>
              <a:buChar char="•"/>
            </a:pPr>
            <a:r>
              <a:rPr sz="1200">
                <a:solidFill>
                  <a:srgbClr val="141414"/>
                </a:solidFill>
                <a:latin typeface="Arial"/>
              </a:rPr>
              <a:t>The one “keep it compact” instruction governs the optimizer-side meta skill — which is never shipped.</a:t>
            </a:r>
          </a:p>
        </p:txBody>
      </p:sp>
      <p:sp>
        <p:nvSpPr>
          <p:cNvPr id="8" name="Rectangle 7"/>
          <p:cNvSpPr/>
          <p:nvPr/>
        </p:nvSpPr>
        <p:spPr>
          <a:xfrm>
            <a:off x="640080" y="4800600"/>
            <a:ext cx="10911535" cy="123444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14400" y="4983480"/>
            <a:ext cx="10362895" cy="365760"/>
          </a:xfrm>
          <a:prstGeom prst="rect">
            <a:avLst/>
          </a:prstGeom>
          <a:noFill/>
        </p:spPr>
        <p:txBody>
          <a:bodyPr wrap="square" lIns="0" tIns="0" rIns="0" bIns="0">
            <a:spAutoFit/>
          </a:bodyPr>
          <a:lstStyle/>
          <a:p>
            <a:pPr algn="l"/>
            <a:r>
              <a:rPr sz="2100" b="1" i="0">
                <a:solidFill>
                  <a:srgbClr val="FFFFFF"/>
                </a:solidFill>
                <a:latin typeface="Cambria"/>
              </a:rPr>
              <a:t>Skills exist to save context. This method inflates them.</a:t>
            </a:r>
          </a:p>
        </p:txBody>
      </p:sp>
      <p:sp>
        <p:nvSpPr>
          <p:cNvPr id="10" name="TextBox 9"/>
          <p:cNvSpPr txBox="1"/>
          <p:nvPr/>
        </p:nvSpPr>
        <p:spPr>
          <a:xfrm>
            <a:off x="914400" y="5413248"/>
            <a:ext cx="10362895" cy="502920"/>
          </a:xfrm>
          <a:prstGeom prst="rect">
            <a:avLst/>
          </a:prstGeom>
          <a:noFill/>
        </p:spPr>
        <p:txBody>
          <a:bodyPr wrap="square" lIns="0" tIns="0" rIns="0" bIns="0">
            <a:spAutoFit/>
          </a:bodyPr>
          <a:lstStyle/>
          <a:p>
            <a:pPr algn="l">
              <a:lnSpc>
                <a:spcPts val="1600"/>
              </a:lnSpc>
            </a:pPr>
            <a:r>
              <a:rPr sz="1200" b="0" i="0">
                <a:solidFill>
                  <a:srgbClr val="C5C5C5"/>
                </a:solidFill>
                <a:latin typeface="Arial"/>
              </a:rPr>
              <a:t>The fix is one line: add a token cost term to the acceptance criterion. Practitioner writeups already list</a:t>
            </a:r>
          </a:p>
          <a:p>
            <a:pPr algn="l">
              <a:lnSpc>
                <a:spcPts val="1600"/>
              </a:lnSpc>
            </a:pPr>
            <a:r>
              <a:rPr sz="1200" b="0" i="0">
                <a:solidFill>
                  <a:srgbClr val="C5C5C5"/>
                </a:solidFill>
                <a:latin typeface="Arial"/>
              </a:rPr>
              <a:t>this as a known failure mode — with no length penalty, prompts grow until the judge prefers verbosity.</a:t>
            </a:r>
          </a:p>
        </p:txBody>
      </p:sp>
      <p:sp>
        <p:nvSpPr>
          <p:cNvPr id="11" name="TextBox 10"/>
          <p:cNvSpPr txBox="1"/>
          <p:nvPr/>
        </p:nvSpPr>
        <p:spPr>
          <a:xfrm>
            <a:off x="640080" y="6309360"/>
            <a:ext cx="10911535" cy="274320"/>
          </a:xfrm>
          <a:prstGeom prst="rect">
            <a:avLst/>
          </a:prstGeom>
          <a:noFill/>
        </p:spPr>
        <p:txBody>
          <a:bodyPr wrap="square" lIns="0" tIns="0" rIns="0" bIns="0">
            <a:spAutoFit/>
          </a:bodyPr>
          <a:lstStyle/>
          <a:p>
            <a:pPr algn="l"/>
            <a:r>
              <a:rPr sz="1000" b="0" i="1">
                <a:solidFill>
                  <a:srgbClr val="6E6E6E"/>
                </a:solidFill>
                <a:latin typeface="Arial"/>
              </a:rPr>
              <a:t>Table 6 and Appendix C.2.1–C.2.8 (optimizer prompt contracts).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07 — THE REST</a:t>
            </a:r>
          </a:p>
        </p:txBody>
      </p:sp>
      <p:sp>
        <p:nvSpPr>
          <p:cNvPr id="3" name="TextBox 2"/>
          <p:cNvSpPr txBox="1"/>
          <p:nvPr/>
        </p:nvSpPr>
        <p:spPr>
          <a:xfrm>
            <a:off x="640080" y="841248"/>
            <a:ext cx="10911535" cy="731520"/>
          </a:xfrm>
          <a:prstGeom prst="rect">
            <a:avLst/>
          </a:prstGeom>
          <a:noFill/>
        </p:spPr>
        <p:txBody>
          <a:bodyPr wrap="square" lIns="0" tIns="0" rIns="0" bIns="0">
            <a:spAutoFit/>
          </a:bodyPr>
          <a:lstStyle/>
          <a:p>
            <a:pPr algn="l"/>
            <a:r>
              <a:rPr sz="3200" b="1" i="0">
                <a:solidFill>
                  <a:srgbClr val="141414"/>
                </a:solidFill>
                <a:latin typeface="Cambria"/>
              </a:rPr>
              <a:t>Other claims that do not hold up</a:t>
            </a:r>
          </a:p>
        </p:txBody>
      </p:sp>
      <p:sp>
        <p:nvSpPr>
          <p:cNvPr id="4" name="Rectangle 3"/>
          <p:cNvSpPr/>
          <p:nvPr/>
        </p:nvSpPr>
        <p:spPr>
          <a:xfrm>
            <a:off x="640080" y="1691640"/>
            <a:ext cx="10911535" cy="1005840"/>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8680" y="1837944"/>
            <a:ext cx="2834640" cy="320040"/>
          </a:xfrm>
          <a:prstGeom prst="rect">
            <a:avLst/>
          </a:prstGeom>
          <a:noFill/>
        </p:spPr>
        <p:txBody>
          <a:bodyPr wrap="square" lIns="0" tIns="0" rIns="0" bIns="0">
            <a:spAutoFit/>
          </a:bodyPr>
          <a:lstStyle/>
          <a:p>
            <a:pPr algn="l"/>
            <a:r>
              <a:rPr sz="1600" b="1" i="0">
                <a:solidFill>
                  <a:srgbClr val="B3121B"/>
                </a:solidFill>
                <a:latin typeface="Cambria"/>
              </a:rPr>
              <a:t>Reusability</a:t>
            </a:r>
          </a:p>
        </p:txBody>
      </p:sp>
      <p:sp>
        <p:nvSpPr>
          <p:cNvPr id="6" name="TextBox 5"/>
          <p:cNvSpPr txBox="1"/>
          <p:nvPr/>
        </p:nvSpPr>
        <p:spPr>
          <a:xfrm>
            <a:off x="3840480" y="1837944"/>
            <a:ext cx="7436815" cy="731520"/>
          </a:xfrm>
          <a:prstGeom prst="rect">
            <a:avLst/>
          </a:prstGeom>
          <a:noFill/>
        </p:spPr>
        <p:txBody>
          <a:bodyPr wrap="square" lIns="0" tIns="0" rIns="0" bIns="0">
            <a:spAutoFit/>
          </a:bodyPr>
          <a:lstStyle/>
          <a:p>
            <a:pPr algn="l">
              <a:lnSpc>
                <a:spcPts val="1600"/>
              </a:lnSpc>
            </a:pPr>
            <a:r>
              <a:rPr sz="1250" b="0" i="0">
                <a:solidFill>
                  <a:srgbClr val="141414"/>
                </a:solidFill>
                <a:latin typeface="Arial"/>
              </a:rPr>
              <a:t>“Transfers across models” is GPT→GPT only. Every row of Table 4(a) stays inside one family. No cross-family transfer is tested at all.</a:t>
            </a:r>
          </a:p>
        </p:txBody>
      </p:sp>
      <p:sp>
        <p:nvSpPr>
          <p:cNvPr id="7" name="Rectangle 6"/>
          <p:cNvSpPr/>
          <p:nvPr/>
        </p:nvSpPr>
        <p:spPr>
          <a:xfrm>
            <a:off x="640080" y="2834640"/>
            <a:ext cx="10911535" cy="1005840"/>
          </a:xfrm>
          <a:prstGeom prst="rect">
            <a:avLst/>
          </a:prstGeom>
          <a:solidFill>
            <a:srgbClr val="FFFFFF"/>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2980944"/>
            <a:ext cx="2834640" cy="320040"/>
          </a:xfrm>
          <a:prstGeom prst="rect">
            <a:avLst/>
          </a:prstGeom>
          <a:noFill/>
        </p:spPr>
        <p:txBody>
          <a:bodyPr wrap="square" lIns="0" tIns="0" rIns="0" bIns="0">
            <a:spAutoFit/>
          </a:bodyPr>
          <a:lstStyle/>
          <a:p>
            <a:pPr algn="l"/>
            <a:r>
              <a:rPr sz="1600" b="1" i="0">
                <a:solidFill>
                  <a:srgbClr val="B3121B"/>
                </a:solidFill>
                <a:latin typeface="Cambria"/>
              </a:rPr>
              <a:t>Seed dependence</a:t>
            </a:r>
          </a:p>
        </p:txBody>
      </p:sp>
      <p:sp>
        <p:nvSpPr>
          <p:cNvPr id="9" name="TextBox 8"/>
          <p:cNvSpPr txBox="1"/>
          <p:nvPr/>
        </p:nvSpPr>
        <p:spPr>
          <a:xfrm>
            <a:off x="3840480" y="2980944"/>
            <a:ext cx="7436815" cy="731520"/>
          </a:xfrm>
          <a:prstGeom prst="rect">
            <a:avLst/>
          </a:prstGeom>
          <a:noFill/>
        </p:spPr>
        <p:txBody>
          <a:bodyPr wrap="square" lIns="0" tIns="0" rIns="0" bIns="0">
            <a:spAutoFit/>
          </a:bodyPr>
          <a:lstStyle/>
          <a:p>
            <a:pPr algn="l">
              <a:lnSpc>
                <a:spcPts val="1600"/>
              </a:lnSpc>
            </a:pPr>
            <a:r>
              <a:rPr sz="1250" b="0" i="0">
                <a:solidFill>
                  <a:srgbClr val="141414"/>
                </a:solidFill>
                <a:latin typeface="Arial"/>
              </a:rPr>
              <a:t>Results are reported from one seed, split_seed 42, with no variance. Seeds range from a 16-token stub to a 516-token document — an uncontrolled confound across benchmarks.</a:t>
            </a:r>
          </a:p>
        </p:txBody>
      </p:sp>
      <p:sp>
        <p:nvSpPr>
          <p:cNvPr id="10" name="Rectangle 9"/>
          <p:cNvSpPr/>
          <p:nvPr/>
        </p:nvSpPr>
        <p:spPr>
          <a:xfrm>
            <a:off x="640080" y="3977639"/>
            <a:ext cx="10911535" cy="1005840"/>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68680" y="4123944"/>
            <a:ext cx="2834640" cy="320040"/>
          </a:xfrm>
          <a:prstGeom prst="rect">
            <a:avLst/>
          </a:prstGeom>
          <a:noFill/>
        </p:spPr>
        <p:txBody>
          <a:bodyPr wrap="square" lIns="0" tIns="0" rIns="0" bIns="0">
            <a:spAutoFit/>
          </a:bodyPr>
          <a:lstStyle/>
          <a:p>
            <a:pPr algn="l"/>
            <a:r>
              <a:rPr sz="1600" b="1" i="0">
                <a:solidFill>
                  <a:srgbClr val="B3121B"/>
                </a:solidFill>
                <a:latin typeface="Cambria"/>
              </a:rPr>
              <a:t>Improving a good prompt</a:t>
            </a:r>
          </a:p>
        </p:txBody>
      </p:sp>
      <p:sp>
        <p:nvSpPr>
          <p:cNvPr id="12" name="TextBox 11"/>
          <p:cNvSpPr txBox="1"/>
          <p:nvPr/>
        </p:nvSpPr>
        <p:spPr>
          <a:xfrm>
            <a:off x="3840480" y="4123944"/>
            <a:ext cx="7436815" cy="731520"/>
          </a:xfrm>
          <a:prstGeom prst="rect">
            <a:avLst/>
          </a:prstGeom>
          <a:noFill/>
        </p:spPr>
        <p:txBody>
          <a:bodyPr wrap="square" lIns="0" tIns="0" rIns="0" bIns="0">
            <a:spAutoFit/>
          </a:bodyPr>
          <a:lstStyle/>
          <a:p>
            <a:pPr algn="l">
              <a:lnSpc>
                <a:spcPts val="1600"/>
              </a:lnSpc>
            </a:pPr>
            <a:r>
              <a:rPr sz="1250" b="0" i="0">
                <a:solidFill>
                  <a:srgbClr val="141414"/>
                </a:solidFill>
                <a:latin typeface="Arial"/>
              </a:rPr>
              <a:t>The paper never seeds from a strong skill, so there is no evidence the loop can improve one. Its own gate predicts the opposite: once additions stop paying off, they get rejected.</a:t>
            </a:r>
          </a:p>
        </p:txBody>
      </p:sp>
      <p:sp>
        <p:nvSpPr>
          <p:cNvPr id="13" name="Rectangle 12"/>
          <p:cNvSpPr/>
          <p:nvPr/>
        </p:nvSpPr>
        <p:spPr>
          <a:xfrm>
            <a:off x="640080" y="5120640"/>
            <a:ext cx="10911535" cy="1005840"/>
          </a:xfrm>
          <a:prstGeom prst="rect">
            <a:avLst/>
          </a:prstGeom>
          <a:solidFill>
            <a:srgbClr val="FFFFFF"/>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68680" y="5266944"/>
            <a:ext cx="2834640" cy="320040"/>
          </a:xfrm>
          <a:prstGeom prst="rect">
            <a:avLst/>
          </a:prstGeom>
          <a:noFill/>
        </p:spPr>
        <p:txBody>
          <a:bodyPr wrap="square" lIns="0" tIns="0" rIns="0" bIns="0">
            <a:spAutoFit/>
          </a:bodyPr>
          <a:lstStyle/>
          <a:p>
            <a:pPr algn="l"/>
            <a:r>
              <a:rPr sz="1600" b="1" i="0">
                <a:solidFill>
                  <a:srgbClr val="B3121B"/>
                </a:solidFill>
                <a:latin typeface="Cambria"/>
              </a:rPr>
              <a:t>The delete operation</a:t>
            </a:r>
          </a:p>
        </p:txBody>
      </p:sp>
      <p:sp>
        <p:nvSpPr>
          <p:cNvPr id="15" name="TextBox 14"/>
          <p:cNvSpPr txBox="1"/>
          <p:nvPr/>
        </p:nvSpPr>
        <p:spPr>
          <a:xfrm>
            <a:off x="3840480" y="5266944"/>
            <a:ext cx="7436815" cy="731520"/>
          </a:xfrm>
          <a:prstGeom prst="rect">
            <a:avLst/>
          </a:prstGeom>
          <a:noFill/>
        </p:spPr>
        <p:txBody>
          <a:bodyPr wrap="square" lIns="0" tIns="0" rIns="0" bIns="0">
            <a:spAutoFit/>
          </a:bodyPr>
          <a:lstStyle/>
          <a:p>
            <a:pPr algn="l">
              <a:lnSpc>
                <a:spcPts val="1600"/>
              </a:lnSpc>
            </a:pPr>
            <a:r>
              <a:rPr sz="1250" b="0" i="0">
                <a:solidFill>
                  <a:srgbClr val="141414"/>
                </a:solidFill>
                <a:latin typeface="Arial"/>
              </a:rPr>
              <a:t>Available in the schema and used inside merge for conflict resolution. No reported gain is ever attributed to a deletion, and all six skills end larger.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CEA00FC-AEC7-4634-FE4D-7D43B8B4C482}"/>
              </a:ext>
            </a:extLst>
          </p:cNvPr>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08 — THE TRADE</a:t>
            </a:r>
          </a:p>
        </p:txBody>
      </p:sp>
      <p:sp>
        <p:nvSpPr>
          <p:cNvPr id="16" name="TextBox 15">
            <a:extLst>
              <a:ext uri="{FF2B5EF4-FFF2-40B4-BE49-F238E27FC236}">
                <a16:creationId xmlns:a16="http://schemas.microsoft.com/office/drawing/2014/main" id="{DB8DB06E-606B-BB67-DB1A-92C20D49C114}"/>
              </a:ext>
            </a:extLst>
          </p:cNvPr>
          <p:cNvSpPr txBox="1"/>
          <p:nvPr/>
        </p:nvSpPr>
        <p:spPr>
          <a:xfrm>
            <a:off x="640080" y="841248"/>
            <a:ext cx="10911535" cy="731520"/>
          </a:xfrm>
          <a:prstGeom prst="rect">
            <a:avLst/>
          </a:prstGeom>
          <a:noFill/>
        </p:spPr>
        <p:txBody>
          <a:bodyPr wrap="square" lIns="0" tIns="0" rIns="0" bIns="0">
            <a:spAutoFit/>
          </a:bodyPr>
          <a:lstStyle/>
          <a:p>
            <a:pPr algn="l"/>
            <a:r>
              <a:rPr sz="3200" b="1" i="0">
                <a:solidFill>
                  <a:srgbClr val="141414"/>
                </a:solidFill>
                <a:latin typeface="Cambria"/>
              </a:rPr>
              <a:t>Moving parts, per point of gain</a:t>
            </a:r>
          </a:p>
        </p:txBody>
      </p:sp>
      <p:sp>
        <p:nvSpPr>
          <p:cNvPr id="18" name="Rectangle 17">
            <a:extLst>
              <a:ext uri="{FF2B5EF4-FFF2-40B4-BE49-F238E27FC236}">
                <a16:creationId xmlns:a16="http://schemas.microsoft.com/office/drawing/2014/main" id="{B81416F7-A00D-5340-4E48-3B800999A557}"/>
              </a:ext>
            </a:extLst>
          </p:cNvPr>
          <p:cNvSpPr/>
          <p:nvPr/>
        </p:nvSpPr>
        <p:spPr>
          <a:xfrm>
            <a:off x="640080" y="1691640"/>
            <a:ext cx="5257800" cy="4023360"/>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a:extLst>
              <a:ext uri="{FF2B5EF4-FFF2-40B4-BE49-F238E27FC236}">
                <a16:creationId xmlns:a16="http://schemas.microsoft.com/office/drawing/2014/main" id="{46BC51C3-2356-4B13-B012-F4B5AC370DD2}"/>
              </a:ext>
            </a:extLst>
          </p:cNvPr>
          <p:cNvSpPr txBox="1"/>
          <p:nvPr/>
        </p:nvSpPr>
        <p:spPr>
          <a:xfrm>
            <a:off x="914400" y="1874519"/>
            <a:ext cx="4709160" cy="320040"/>
          </a:xfrm>
          <a:prstGeom prst="rect">
            <a:avLst/>
          </a:prstGeom>
          <a:noFill/>
        </p:spPr>
        <p:txBody>
          <a:bodyPr wrap="square" lIns="0" tIns="0" rIns="0" bIns="0">
            <a:spAutoFit/>
          </a:bodyPr>
          <a:lstStyle/>
          <a:p>
            <a:pPr algn="l"/>
            <a:r>
              <a:rPr sz="2000" b="1" i="0">
                <a:solidFill>
                  <a:srgbClr val="141414"/>
                </a:solidFill>
                <a:latin typeface="Cambria"/>
              </a:rPr>
              <a:t>SkillOpt</a:t>
            </a:r>
          </a:p>
        </p:txBody>
      </p:sp>
      <p:sp>
        <p:nvSpPr>
          <p:cNvPr id="22" name="TextBox 21">
            <a:extLst>
              <a:ext uri="{FF2B5EF4-FFF2-40B4-BE49-F238E27FC236}">
                <a16:creationId xmlns:a16="http://schemas.microsoft.com/office/drawing/2014/main" id="{FE11906F-8E4D-432C-CE59-3D15299D4BE7}"/>
              </a:ext>
            </a:extLst>
          </p:cNvPr>
          <p:cNvSpPr txBox="1"/>
          <p:nvPr/>
        </p:nvSpPr>
        <p:spPr>
          <a:xfrm>
            <a:off x="914400" y="2286000"/>
            <a:ext cx="4709160" cy="3291840"/>
          </a:xfrm>
          <a:prstGeom prst="rect">
            <a:avLst/>
          </a:prstGeom>
          <a:noFill/>
        </p:spPr>
        <p:txBody>
          <a:bodyPr wrap="square" lIns="0" tIns="0" rIns="0" bIns="0">
            <a:spAutoFit/>
          </a:bodyPr>
          <a:lstStyle/>
          <a:p>
            <a:pPr marL="182880" indent="-182880">
              <a:lnSpc>
                <a:spcPts val="1600"/>
              </a:lnSpc>
              <a:spcAft>
                <a:spcPts val="900"/>
              </a:spcAft>
              <a:buChar char="•"/>
            </a:pPr>
            <a:r>
              <a:rPr sz="1250" dirty="0">
                <a:solidFill>
                  <a:srgbClr val="141414"/>
                </a:solidFill>
                <a:latin typeface="Arial"/>
              </a:rPr>
              <a:t>Meta prompt — human-written, model-specific</a:t>
            </a:r>
          </a:p>
          <a:p>
            <a:pPr marL="182880" indent="-182880">
              <a:lnSpc>
                <a:spcPts val="1600"/>
              </a:lnSpc>
              <a:spcAft>
                <a:spcPts val="900"/>
              </a:spcAft>
              <a:buChar char="•"/>
            </a:pPr>
            <a:r>
              <a:rPr sz="1250" dirty="0">
                <a:solidFill>
                  <a:srgbClr val="141414"/>
                </a:solidFill>
                <a:latin typeface="Arial"/>
              </a:rPr>
              <a:t>Seed skill — outcome is sensitive to it</a:t>
            </a:r>
          </a:p>
          <a:p>
            <a:pPr marL="182880" indent="-182880">
              <a:lnSpc>
                <a:spcPts val="1600"/>
              </a:lnSpc>
              <a:spcAft>
                <a:spcPts val="900"/>
              </a:spcAft>
              <a:buChar char="•"/>
            </a:pPr>
            <a:r>
              <a:rPr sz="1250" dirty="0">
                <a:solidFill>
                  <a:srgbClr val="141414"/>
                </a:solidFill>
                <a:latin typeface="Arial"/>
              </a:rPr>
              <a:t>Optimizer model — stronger is better, so a cost</a:t>
            </a:r>
          </a:p>
          <a:p>
            <a:pPr marL="182880" indent="-182880">
              <a:lnSpc>
                <a:spcPts val="1600"/>
              </a:lnSpc>
              <a:spcAft>
                <a:spcPts val="900"/>
              </a:spcAft>
              <a:buChar char="•"/>
            </a:pPr>
            <a:r>
              <a:rPr sz="1250" dirty="0">
                <a:solidFill>
                  <a:srgbClr val="141414"/>
                </a:solidFill>
                <a:latin typeface="Arial"/>
              </a:rPr>
              <a:t>Target model — changes on release cycle</a:t>
            </a:r>
          </a:p>
          <a:p>
            <a:pPr marL="182880" indent="-182880">
              <a:lnSpc>
                <a:spcPts val="1600"/>
              </a:lnSpc>
              <a:spcAft>
                <a:spcPts val="900"/>
              </a:spcAft>
              <a:buChar char="•"/>
            </a:pPr>
            <a:r>
              <a:rPr sz="1250" dirty="0">
                <a:solidFill>
                  <a:srgbClr val="141414"/>
                </a:solidFill>
                <a:latin typeface="Arial"/>
              </a:rPr>
              <a:t>Task corpus with train / selection / test splits</a:t>
            </a:r>
          </a:p>
          <a:p>
            <a:pPr marL="182880" indent="-182880">
              <a:lnSpc>
                <a:spcPts val="1600"/>
              </a:lnSpc>
              <a:spcAft>
                <a:spcPts val="900"/>
              </a:spcAft>
              <a:buChar char="•"/>
            </a:pPr>
            <a:r>
              <a:rPr sz="1250" dirty="0">
                <a:solidFill>
                  <a:srgbClr val="141414"/>
                </a:solidFill>
                <a:latin typeface="Arial"/>
              </a:rPr>
              <a:t>Automatic scorer — required, and gameable</a:t>
            </a:r>
          </a:p>
          <a:p>
            <a:pPr marL="182880" indent="-182880">
              <a:lnSpc>
                <a:spcPts val="1600"/>
              </a:lnSpc>
              <a:spcAft>
                <a:spcPts val="900"/>
              </a:spcAft>
              <a:buChar char="•"/>
            </a:pPr>
            <a:r>
              <a:rPr sz="1250" dirty="0">
                <a:solidFill>
                  <a:srgbClr val="141414"/>
                </a:solidFill>
                <a:latin typeface="Arial"/>
              </a:rPr>
              <a:t>Hyperparameters — epochs, batch, minibatch, Lt, schedule</a:t>
            </a:r>
          </a:p>
        </p:txBody>
      </p:sp>
      <p:sp>
        <p:nvSpPr>
          <p:cNvPr id="24" name="Rectangle 23">
            <a:extLst>
              <a:ext uri="{FF2B5EF4-FFF2-40B4-BE49-F238E27FC236}">
                <a16:creationId xmlns:a16="http://schemas.microsoft.com/office/drawing/2014/main" id="{2CDDB195-C785-CA59-1A58-A31FD68E7D27}"/>
              </a:ext>
            </a:extLst>
          </p:cNvPr>
          <p:cNvSpPr/>
          <p:nvPr/>
        </p:nvSpPr>
        <p:spPr>
          <a:xfrm>
            <a:off x="6355080" y="1691640"/>
            <a:ext cx="5196535" cy="4023360"/>
          </a:xfrm>
          <a:prstGeom prst="rect">
            <a:avLst/>
          </a:prstGeom>
          <a:no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a:extLst>
              <a:ext uri="{FF2B5EF4-FFF2-40B4-BE49-F238E27FC236}">
                <a16:creationId xmlns:a16="http://schemas.microsoft.com/office/drawing/2014/main" id="{4E644919-E781-A74B-89E5-95ACD595558D}"/>
              </a:ext>
            </a:extLst>
          </p:cNvPr>
          <p:cNvSpPr txBox="1"/>
          <p:nvPr/>
        </p:nvSpPr>
        <p:spPr>
          <a:xfrm>
            <a:off x="6629400" y="1874519"/>
            <a:ext cx="4647895" cy="320040"/>
          </a:xfrm>
          <a:prstGeom prst="rect">
            <a:avLst/>
          </a:prstGeom>
          <a:noFill/>
        </p:spPr>
        <p:txBody>
          <a:bodyPr wrap="square" lIns="0" tIns="0" rIns="0" bIns="0">
            <a:spAutoFit/>
          </a:bodyPr>
          <a:lstStyle/>
          <a:p>
            <a:pPr algn="l"/>
            <a:r>
              <a:rPr sz="2000" b="1" i="0">
                <a:solidFill>
                  <a:srgbClr val="141414"/>
                </a:solidFill>
                <a:latin typeface="Cambria"/>
              </a:rPr>
              <a:t>Hand-written</a:t>
            </a:r>
          </a:p>
        </p:txBody>
      </p:sp>
      <p:sp>
        <p:nvSpPr>
          <p:cNvPr id="28" name="TextBox 27">
            <a:extLst>
              <a:ext uri="{FF2B5EF4-FFF2-40B4-BE49-F238E27FC236}">
                <a16:creationId xmlns:a16="http://schemas.microsoft.com/office/drawing/2014/main" id="{5BA7A9E8-92C3-9B28-4197-B8AD007DDF72}"/>
              </a:ext>
            </a:extLst>
          </p:cNvPr>
          <p:cNvSpPr txBox="1"/>
          <p:nvPr/>
        </p:nvSpPr>
        <p:spPr>
          <a:xfrm>
            <a:off x="6629400" y="2286000"/>
            <a:ext cx="4647895" cy="510974"/>
          </a:xfrm>
          <a:prstGeom prst="rect">
            <a:avLst/>
          </a:prstGeom>
          <a:noFill/>
        </p:spPr>
        <p:txBody>
          <a:bodyPr wrap="square" lIns="0" tIns="0" rIns="0" bIns="0">
            <a:spAutoFit/>
          </a:bodyPr>
          <a:lstStyle/>
          <a:p>
            <a:pPr marL="182880" indent="-182880">
              <a:lnSpc>
                <a:spcPts val="1600"/>
              </a:lnSpc>
              <a:spcAft>
                <a:spcPts val="900"/>
              </a:spcAft>
              <a:buChar char="•"/>
            </a:pPr>
            <a:r>
              <a:rPr lang="en-US" sz="1250" dirty="0">
                <a:solidFill>
                  <a:srgbClr val="141414"/>
                </a:solidFill>
                <a:latin typeface="Arial"/>
              </a:rPr>
              <a:t>Writer</a:t>
            </a:r>
            <a:endParaRPr sz="1250" dirty="0">
              <a:solidFill>
                <a:srgbClr val="141414"/>
              </a:solidFill>
              <a:latin typeface="Arial"/>
            </a:endParaRPr>
          </a:p>
          <a:p>
            <a:pPr marL="182880" indent="-182880">
              <a:lnSpc>
                <a:spcPts val="1600"/>
              </a:lnSpc>
              <a:spcAft>
                <a:spcPts val="900"/>
              </a:spcAft>
              <a:buChar char="•"/>
            </a:pPr>
            <a:r>
              <a:rPr lang="en-US" sz="1250" dirty="0">
                <a:solidFill>
                  <a:srgbClr val="141414"/>
                </a:solidFill>
                <a:latin typeface="Arial"/>
              </a:rPr>
              <a:t>Model</a:t>
            </a:r>
            <a:endParaRPr sz="1250" dirty="0">
              <a:solidFill>
                <a:srgbClr val="141414"/>
              </a:solidFill>
              <a:latin typeface="Arial"/>
            </a:endParaRPr>
          </a:p>
        </p:txBody>
      </p:sp>
      <p:sp>
        <p:nvSpPr>
          <p:cNvPr id="30" name="TextBox 29">
            <a:extLst>
              <a:ext uri="{FF2B5EF4-FFF2-40B4-BE49-F238E27FC236}">
                <a16:creationId xmlns:a16="http://schemas.microsoft.com/office/drawing/2014/main" id="{AF0F8DD2-C18D-8B8E-C1DA-524BABE4EEFC}"/>
              </a:ext>
            </a:extLst>
          </p:cNvPr>
          <p:cNvSpPr txBox="1"/>
          <p:nvPr/>
        </p:nvSpPr>
        <p:spPr>
          <a:xfrm>
            <a:off x="6629400" y="4114800"/>
            <a:ext cx="4647895" cy="810286"/>
          </a:xfrm>
          <a:prstGeom prst="rect">
            <a:avLst/>
          </a:prstGeom>
          <a:noFill/>
        </p:spPr>
        <p:txBody>
          <a:bodyPr wrap="square" lIns="0" tIns="0" rIns="0" bIns="0">
            <a:spAutoFit/>
          </a:bodyPr>
          <a:lstStyle/>
          <a:p>
            <a:pPr algn="l">
              <a:lnSpc>
                <a:spcPts val="2000"/>
              </a:lnSpc>
            </a:pPr>
            <a:endParaRPr sz="1400" b="0" i="1" dirty="0">
              <a:solidFill>
                <a:srgbClr val="141414"/>
              </a:solidFill>
              <a:latin typeface="Cambria"/>
            </a:endParaRPr>
          </a:p>
          <a:p>
            <a:pPr>
              <a:lnSpc>
                <a:spcPts val="1600"/>
              </a:lnSpc>
              <a:spcAft>
                <a:spcPts val="900"/>
              </a:spcAft>
            </a:pPr>
            <a:r>
              <a:rPr lang="en-US" sz="1400" i="1" dirty="0">
                <a:solidFill>
                  <a:srgbClr val="141414"/>
                </a:solidFill>
                <a:latin typeface="Cambria" panose="02040503050406030204" pitchFamily="18" charset="0"/>
                <a:ea typeface="Cambria" panose="02040503050406030204" pitchFamily="18" charset="0"/>
              </a:rPr>
              <a:t>One artifact you can read end to end</a:t>
            </a:r>
          </a:p>
          <a:p>
            <a:pPr algn="l">
              <a:lnSpc>
                <a:spcPts val="2000"/>
              </a:lnSpc>
            </a:pPr>
            <a:r>
              <a:rPr sz="1400" b="0" i="1" dirty="0">
                <a:solidFill>
                  <a:srgbClr val="141414"/>
                </a:solidFill>
                <a:latin typeface="Cambria"/>
              </a:rPr>
              <a:t>Nothing to re-tune when the model changes.</a:t>
            </a:r>
          </a:p>
        </p:txBody>
      </p:sp>
      <p:sp>
        <p:nvSpPr>
          <p:cNvPr id="32" name="Rectangle 31">
            <a:extLst>
              <a:ext uri="{FF2B5EF4-FFF2-40B4-BE49-F238E27FC236}">
                <a16:creationId xmlns:a16="http://schemas.microsoft.com/office/drawing/2014/main" id="{27BCE126-5DF5-F83B-44C8-81D4BD94F819}"/>
              </a:ext>
            </a:extLst>
          </p:cNvPr>
          <p:cNvSpPr/>
          <p:nvPr/>
        </p:nvSpPr>
        <p:spPr>
          <a:xfrm>
            <a:off x="640080" y="5897880"/>
            <a:ext cx="10911535" cy="658368"/>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a:extLst>
              <a:ext uri="{FF2B5EF4-FFF2-40B4-BE49-F238E27FC236}">
                <a16:creationId xmlns:a16="http://schemas.microsoft.com/office/drawing/2014/main" id="{8AD601E5-A81F-3BB8-AC28-C538C7B9FE92}"/>
              </a:ext>
            </a:extLst>
          </p:cNvPr>
          <p:cNvSpPr txBox="1"/>
          <p:nvPr/>
        </p:nvSpPr>
        <p:spPr>
          <a:xfrm>
            <a:off x="914400" y="6035040"/>
            <a:ext cx="10362895" cy="411480"/>
          </a:xfrm>
          <a:prstGeom prst="rect">
            <a:avLst/>
          </a:prstGeom>
          <a:noFill/>
        </p:spPr>
        <p:txBody>
          <a:bodyPr wrap="square" lIns="0" tIns="0" rIns="0" bIns="0">
            <a:spAutoFit/>
          </a:bodyPr>
          <a:lstStyle/>
          <a:p>
            <a:pPr algn="l"/>
            <a:r>
              <a:rPr sz="1300" b="0" i="0">
                <a:solidFill>
                  <a:srgbClr val="FFFFFF"/>
                </a:solidFill>
                <a:latin typeface="Arial"/>
              </a:rPr>
              <a:t>Every surface on the left is a maintenance cost, and every one goes stale on a model-release cycle.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02920"/>
            <a:ext cx="10911535" cy="274320"/>
          </a:xfrm>
          <a:prstGeom prst="rect">
            <a:avLst/>
          </a:prstGeom>
          <a:noFill/>
        </p:spPr>
        <p:txBody>
          <a:bodyPr wrap="square" lIns="0" tIns="0" rIns="0" bIns="0">
            <a:spAutoFit/>
          </a:bodyPr>
          <a:lstStyle/>
          <a:p>
            <a:pPr algn="l"/>
            <a:r>
              <a:rPr sz="1200" b="1" i="0">
                <a:solidFill>
                  <a:srgbClr val="6E6E6E"/>
                </a:solidFill>
                <a:latin typeface="Arial"/>
              </a:rPr>
              <a:t>09 — WHERE IT EARNS ITS KEEP</a:t>
            </a:r>
          </a:p>
        </p:txBody>
      </p:sp>
      <p:sp>
        <p:nvSpPr>
          <p:cNvPr id="3" name="TextBox 2"/>
          <p:cNvSpPr txBox="1"/>
          <p:nvPr/>
        </p:nvSpPr>
        <p:spPr>
          <a:xfrm>
            <a:off x="640080" y="841248"/>
            <a:ext cx="10911535" cy="731520"/>
          </a:xfrm>
          <a:prstGeom prst="rect">
            <a:avLst/>
          </a:prstGeom>
          <a:noFill/>
        </p:spPr>
        <p:txBody>
          <a:bodyPr wrap="square" lIns="0" tIns="0" rIns="0" bIns="0">
            <a:spAutoFit/>
          </a:bodyPr>
          <a:lstStyle/>
          <a:p>
            <a:pPr algn="l"/>
            <a:r>
              <a:rPr sz="3200" b="1" i="0">
                <a:solidFill>
                  <a:srgbClr val="141414"/>
                </a:solidFill>
                <a:latin typeface="Cambria"/>
              </a:rPr>
              <a:t>The regime you cannot hand-tune for</a:t>
            </a:r>
          </a:p>
        </p:txBody>
      </p:sp>
      <p:sp>
        <p:nvSpPr>
          <p:cNvPr id="4" name="TextBox 3"/>
          <p:cNvSpPr txBox="1"/>
          <p:nvPr/>
        </p:nvSpPr>
        <p:spPr>
          <a:xfrm>
            <a:off x="640080" y="1627632"/>
            <a:ext cx="5623560" cy="274320"/>
          </a:xfrm>
          <a:prstGeom prst="rect">
            <a:avLst/>
          </a:prstGeom>
          <a:noFill/>
        </p:spPr>
        <p:txBody>
          <a:bodyPr wrap="square" lIns="0" tIns="0" rIns="0" bIns="0">
            <a:spAutoFit/>
          </a:bodyPr>
          <a:lstStyle/>
          <a:p>
            <a:pPr algn="l"/>
            <a:r>
              <a:rPr sz="1200" b="0" i="1">
                <a:solidFill>
                  <a:srgbClr val="6E6E6E"/>
                </a:solidFill>
                <a:latin typeface="Arial"/>
              </a:rPr>
              <a:t>Average gain over no skill, all six benchmarks</a:t>
            </a:r>
          </a:p>
        </p:txBody>
      </p:sp>
      <p:graphicFrame>
        <p:nvGraphicFramePr>
          <p:cNvPr id="5" name="Table 4"/>
          <p:cNvGraphicFramePr>
            <a:graphicFrameLocks noGrp="1"/>
          </p:cNvGraphicFramePr>
          <p:nvPr/>
        </p:nvGraphicFramePr>
        <p:xfrm>
          <a:off x="640080" y="1938528"/>
          <a:ext cx="5623560" cy="2523744"/>
        </p:xfrm>
        <a:graphic>
          <a:graphicData uri="http://schemas.openxmlformats.org/drawingml/2006/table">
            <a:tbl>
              <a:tblPr>
                <a:tableStyleId>{2D5ABB26-0587-4C30-8999-92F81FD0307C}</a:tableStyleId>
              </a:tblPr>
              <a:tblGrid>
                <a:gridCol w="19659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315468">
                <a:tc>
                  <a:txBody>
                    <a:bodyPr/>
                    <a:lstStyle/>
                    <a:p>
                      <a:pPr algn="l"/>
                      <a:r>
                        <a:rPr sz="1250" b="1">
                          <a:solidFill>
                            <a:srgbClr val="141414"/>
                          </a:solidFill>
                          <a:latin typeface="Arial"/>
                        </a:rPr>
                        <a:t>Target model</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Human</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GEPA</a:t>
                      </a:r>
                    </a:p>
                  </a:txBody>
                  <a:tcPr marL="82296" marR="82296" marT="27432" marB="27432" anchor="ctr">
                    <a:lnB w="9525" cap="flat" cmpd="sng" algn="ctr">
                      <a:solidFill>
                        <a:srgbClr val="D8D8D8"/>
                      </a:solidFill>
                      <a:prstDash val="solid"/>
                    </a:lnB>
                    <a:solidFill>
                      <a:srgbClr val="F4F4F4"/>
                    </a:solidFill>
                  </a:tcPr>
                </a:tc>
                <a:tc>
                  <a:txBody>
                    <a:bodyPr/>
                    <a:lstStyle/>
                    <a:p>
                      <a:pPr algn="ctr"/>
                      <a:r>
                        <a:rPr sz="1250" b="1">
                          <a:solidFill>
                            <a:srgbClr val="141414"/>
                          </a:solidFill>
                          <a:latin typeface="Arial"/>
                        </a:rPr>
                        <a:t>SkillOpt</a:t>
                      </a:r>
                    </a:p>
                  </a:txBody>
                  <a:tcPr marL="82296" marR="82296" marT="27432" marB="27432" anchor="ctr">
                    <a:lnB w="9525" cap="flat" cmpd="sng" algn="ctr">
                      <a:solidFill>
                        <a:srgbClr val="D8D8D8"/>
                      </a:solidFill>
                      <a:prstDash val="solid"/>
                    </a:lnB>
                    <a:solidFill>
                      <a:srgbClr val="F4F4F4"/>
                    </a:solidFill>
                  </a:tcPr>
                </a:tc>
                <a:extLst>
                  <a:ext uri="{0D108BD9-81ED-4DB2-BD59-A6C34878D82A}">
                    <a16:rowId xmlns:a16="http://schemas.microsoft.com/office/drawing/2014/main" val="10000"/>
                  </a:ext>
                </a:extLst>
              </a:tr>
              <a:tr h="315468">
                <a:tc>
                  <a:txBody>
                    <a:bodyPr/>
                    <a:lstStyle/>
                    <a:p>
                      <a:pPr algn="l"/>
                      <a:r>
                        <a:rPr sz="1250" b="0">
                          <a:solidFill>
                            <a:srgbClr val="141414"/>
                          </a:solidFill>
                          <a:latin typeface="Arial"/>
                        </a:rPr>
                        <a:t>GPT-5.5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+14.9</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+14.6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+23.5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1"/>
                  </a:ext>
                </a:extLst>
              </a:tr>
              <a:tr h="315468">
                <a:tc>
                  <a:txBody>
                    <a:bodyPr/>
                    <a:lstStyle/>
                    <a:p>
                      <a:pPr algn="l"/>
                      <a:r>
                        <a:rPr sz="1250" b="0">
                          <a:solidFill>
                            <a:srgbClr val="141414"/>
                          </a:solidFill>
                          <a:latin typeface="Arial"/>
                        </a:rPr>
                        <a:t>GPT-5.4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+7.5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+8.4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+12.8</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2"/>
                  </a:ext>
                </a:extLst>
              </a:tr>
              <a:tr h="315468">
                <a:tc>
                  <a:txBody>
                    <a:bodyPr/>
                    <a:lstStyle/>
                    <a:p>
                      <a:pPr algn="l"/>
                      <a:r>
                        <a:rPr sz="1250" b="0">
                          <a:solidFill>
                            <a:srgbClr val="141414"/>
                          </a:solidFill>
                          <a:latin typeface="Arial"/>
                        </a:rPr>
                        <a:t>GPT-5.4-mini</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+7.2</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+11.0</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+15.4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3"/>
                  </a:ext>
                </a:extLst>
              </a:tr>
              <a:tr h="315468">
                <a:tc>
                  <a:txBody>
                    <a:bodyPr/>
                    <a:lstStyle/>
                    <a:p>
                      <a:pPr algn="l"/>
                      <a:r>
                        <a:rPr sz="1250" b="0">
                          <a:solidFill>
                            <a:srgbClr val="141414"/>
                          </a:solidFill>
                          <a:latin typeface="Arial"/>
                        </a:rPr>
                        <a:t>GPT-5.4-nano</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+15.1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+22.7</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+26.7</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4"/>
                  </a:ext>
                </a:extLst>
              </a:tr>
              <a:tr h="315468">
                <a:tc>
                  <a:txBody>
                    <a:bodyPr/>
                    <a:lstStyle/>
                    <a:p>
                      <a:pPr algn="l"/>
                      <a:r>
                        <a:rPr sz="1250" b="0">
                          <a:solidFill>
                            <a:srgbClr val="141414"/>
                          </a:solidFill>
                          <a:latin typeface="Arial"/>
                        </a:rPr>
                        <a:t>GPT-5.2</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+6.8</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+14.0</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+16.6</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5"/>
                  </a:ext>
                </a:extLst>
              </a:tr>
              <a:tr h="315468">
                <a:tc>
                  <a:txBody>
                    <a:bodyPr/>
                    <a:lstStyle/>
                    <a:p>
                      <a:pPr algn="l"/>
                      <a:r>
                        <a:rPr sz="1250" b="0">
                          <a:solidFill>
                            <a:srgbClr val="141414"/>
                          </a:solidFill>
                          <a:latin typeface="Arial"/>
                        </a:rPr>
                        <a:t>Qwen3.5-4B</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+1.4</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0">
                          <a:solidFill>
                            <a:srgbClr val="141414"/>
                          </a:solidFill>
                          <a:latin typeface="Arial"/>
                        </a:rPr>
                        <a:t>+8.5</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141414"/>
                          </a:solidFill>
                          <a:latin typeface="Arial"/>
                        </a:rPr>
                        <a:t>+19.2</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6"/>
                  </a:ext>
                </a:extLst>
              </a:tr>
              <a:tr h="315468">
                <a:tc>
                  <a:txBody>
                    <a:bodyPr/>
                    <a:lstStyle/>
                    <a:p>
                      <a:pPr algn="l"/>
                      <a:r>
                        <a:rPr sz="1250" b="0">
                          <a:solidFill>
                            <a:srgbClr val="141414"/>
                          </a:solidFill>
                          <a:latin typeface="Arial"/>
                        </a:rPr>
                        <a:t>Qwen3.6-35B</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−2.0</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B3121B"/>
                          </a:solidFill>
                          <a:latin typeface="Arial"/>
                        </a:rPr>
                        <a:t>+3.8</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pPr algn="ctr"/>
                      <a:r>
                        <a:rPr sz="1250" b="1">
                          <a:solidFill>
                            <a:srgbClr val="141414"/>
                          </a:solidFill>
                          <a:latin typeface="Arial"/>
                        </a:rPr>
                        <a:t>+9.1</a:t>
                      </a:r>
                    </a:p>
                  </a:txBody>
                  <a:tcPr marL="82296" marR="82296" marT="27432" marB="27432" anchor="ct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640080" y="4617720"/>
            <a:ext cx="5623560" cy="777240"/>
          </a:xfrm>
          <a:prstGeom prst="rect">
            <a:avLst/>
          </a:prstGeom>
          <a:noFill/>
        </p:spPr>
        <p:txBody>
          <a:bodyPr wrap="square" lIns="0" tIns="0" rIns="0" bIns="0">
            <a:spAutoFit/>
          </a:bodyPr>
          <a:lstStyle/>
          <a:p>
            <a:pPr algn="l">
              <a:lnSpc>
                <a:spcPts val="1900"/>
              </a:lnSpc>
            </a:pPr>
            <a:r>
              <a:rPr sz="1400" b="1" i="0">
                <a:solidFill>
                  <a:srgbClr val="141414"/>
                </a:solidFill>
                <a:latin typeface="Cambria"/>
              </a:rPr>
              <a:t>Read the Human column top to bottom. It collapses the moment</a:t>
            </a:r>
          </a:p>
          <a:p>
            <a:pPr algn="l">
              <a:lnSpc>
                <a:spcPts val="1900"/>
              </a:lnSpc>
            </a:pPr>
            <a:r>
              <a:rPr sz="1400" b="1" i="0">
                <a:solidFill>
                  <a:srgbClr val="141414"/>
                </a:solidFill>
                <a:latin typeface="Cambria"/>
              </a:rPr>
              <a:t>you leave the GPT family — from +14.9 to +1.4 to net negative.</a:t>
            </a:r>
          </a:p>
        </p:txBody>
      </p:sp>
      <p:sp>
        <p:nvSpPr>
          <p:cNvPr id="7" name="Rectangle 6"/>
          <p:cNvSpPr/>
          <p:nvPr/>
        </p:nvSpPr>
        <p:spPr>
          <a:xfrm>
            <a:off x="640080" y="5486400"/>
            <a:ext cx="5623560" cy="658368"/>
          </a:xfrm>
          <a:prstGeom prst="rect">
            <a:avLst/>
          </a:prstGeom>
          <a:solidFill>
            <a:srgbClr val="F4F4F4"/>
          </a:solidFill>
          <a:ln w="12700">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41247" y="5632704"/>
            <a:ext cx="5257800" cy="411480"/>
          </a:xfrm>
          <a:prstGeom prst="rect">
            <a:avLst/>
          </a:prstGeom>
          <a:noFill/>
        </p:spPr>
        <p:txBody>
          <a:bodyPr wrap="square" lIns="0" tIns="0" rIns="0" bIns="0">
            <a:spAutoFit/>
          </a:bodyPr>
          <a:lstStyle/>
          <a:p>
            <a:pPr algn="l"/>
            <a:r>
              <a:rPr sz="1200" b="1" i="0">
                <a:solidFill>
                  <a:srgbClr val="141414"/>
                </a:solidFill>
                <a:latin typeface="Arial"/>
              </a:rPr>
              <a:t>Qwen3.5-4B ALFWorld: 30.6 no skill · 28.4 human · 60.4 GEPA · 81.3 SkillOpt</a:t>
            </a:r>
          </a:p>
        </p:txBody>
      </p:sp>
      <p:sp>
        <p:nvSpPr>
          <p:cNvPr id="9" name="TextBox 8"/>
          <p:cNvSpPr txBox="1"/>
          <p:nvPr/>
        </p:nvSpPr>
        <p:spPr>
          <a:xfrm>
            <a:off x="6720840" y="1627632"/>
            <a:ext cx="4830775" cy="292608"/>
          </a:xfrm>
          <a:prstGeom prst="rect">
            <a:avLst/>
          </a:prstGeom>
          <a:noFill/>
        </p:spPr>
        <p:txBody>
          <a:bodyPr wrap="square" lIns="0" tIns="0" rIns="0" bIns="0">
            <a:spAutoFit/>
          </a:bodyPr>
          <a:lstStyle/>
          <a:p>
            <a:pPr algn="l"/>
            <a:r>
              <a:rPr sz="1800" b="1" i="0">
                <a:solidFill>
                  <a:srgbClr val="141414"/>
                </a:solidFill>
                <a:latin typeface="Cambria"/>
              </a:rPr>
              <a:t>Why the cheap options fail here</a:t>
            </a:r>
          </a:p>
        </p:txBody>
      </p:sp>
      <p:sp>
        <p:nvSpPr>
          <p:cNvPr id="10" name="TextBox 9"/>
          <p:cNvSpPr txBox="1"/>
          <p:nvPr/>
        </p:nvSpPr>
        <p:spPr>
          <a:xfrm>
            <a:off x="6720840" y="2011680"/>
            <a:ext cx="4830775" cy="3200400"/>
          </a:xfrm>
          <a:prstGeom prst="rect">
            <a:avLst/>
          </a:prstGeom>
          <a:noFill/>
        </p:spPr>
        <p:txBody>
          <a:bodyPr wrap="square" lIns="0" tIns="0" rIns="0" bIns="0">
            <a:spAutoFit/>
          </a:bodyPr>
          <a:lstStyle/>
          <a:p>
            <a:pPr marL="182880" indent="-182880">
              <a:lnSpc>
                <a:spcPts val="1600"/>
              </a:lnSpc>
              <a:spcAft>
                <a:spcPts val="700"/>
              </a:spcAft>
              <a:buChar char="•"/>
            </a:pPr>
            <a:r>
              <a:rPr sz="1200">
                <a:solidFill>
                  <a:srgbClr val="141414"/>
                </a:solidFill>
                <a:latin typeface="Arial"/>
              </a:rPr>
              <a:t>A hand-written skill can only encode failure modes its author could anticipate. Nobody can predict how a 4B model breaks.</a:t>
            </a:r>
          </a:p>
          <a:p>
            <a:pPr marL="182880" indent="-182880">
              <a:lnSpc>
                <a:spcPts val="1600"/>
              </a:lnSpc>
              <a:spcAft>
                <a:spcPts val="700"/>
              </a:spcAft>
              <a:buChar char="•"/>
            </a:pPr>
            <a:r>
              <a:rPr sz="1200">
                <a:solidFill>
                  <a:srgbClr val="141414"/>
                </a:solidFill>
                <a:latin typeface="Arial"/>
              </a:rPr>
              <a:t>So the human skill goes net negative on three of six benchmarks for Qwen3.5-4B — and on four of six for Qwen3.6-35B.</a:t>
            </a:r>
          </a:p>
          <a:p>
            <a:pPr marL="182880" indent="-182880">
              <a:lnSpc>
                <a:spcPts val="1600"/>
              </a:lnSpc>
              <a:spcAft>
                <a:spcPts val="700"/>
              </a:spcAft>
              <a:buChar char="•"/>
            </a:pPr>
            <a:r>
              <a:rPr sz="1200">
                <a:solidFill>
                  <a:srgbClr val="141414"/>
                </a:solidFill>
                <a:latin typeface="Arial"/>
              </a:rPr>
              <a:t>GEPA is weak in the same place: its two worst rows in the paper are the two Qwen models.</a:t>
            </a:r>
          </a:p>
          <a:p>
            <a:pPr marL="182880" indent="-182880">
              <a:lnSpc>
                <a:spcPts val="1600"/>
              </a:lnSpc>
              <a:spcAft>
                <a:spcPts val="700"/>
              </a:spcAft>
              <a:buChar char="•"/>
            </a:pPr>
            <a:r>
              <a:rPr sz="1200">
                <a:solidFill>
                  <a:srgbClr val="141414"/>
                </a:solidFill>
                <a:latin typeface="Arial"/>
              </a:rPr>
              <a:t>On the small models GEPA is the strongest baseline in only 1 of 6 cells — Trace2Skill usually beats it.</a:t>
            </a:r>
          </a:p>
          <a:p>
            <a:pPr marL="182880" indent="-182880">
              <a:lnSpc>
                <a:spcPts val="1600"/>
              </a:lnSpc>
              <a:spcAft>
                <a:spcPts val="700"/>
              </a:spcAft>
              <a:buChar char="•"/>
            </a:pPr>
            <a:r>
              <a:rPr sz="1200">
                <a:solidFill>
                  <a:srgbClr val="141414"/>
                </a:solidFill>
                <a:latin typeface="Arial"/>
              </a:rPr>
              <a:t>SkillOpt's largest margin over GEPA anywhere in the paper is Qwen3.5-4B, at +10.8.</a:t>
            </a:r>
          </a:p>
        </p:txBody>
      </p:sp>
      <p:sp>
        <p:nvSpPr>
          <p:cNvPr id="11" name="Rectangle 10"/>
          <p:cNvSpPr/>
          <p:nvPr/>
        </p:nvSpPr>
        <p:spPr>
          <a:xfrm>
            <a:off x="6720840" y="5349240"/>
            <a:ext cx="4830775" cy="822960"/>
          </a:xfrm>
          <a:prstGeom prst="rect">
            <a:avLst/>
          </a:prstGeom>
          <a:noFill/>
          <a:ln w="25400">
            <a:solidFill>
              <a:srgbClr val="B3121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922008" y="5504688"/>
            <a:ext cx="4419295" cy="548640"/>
          </a:xfrm>
          <a:prstGeom prst="rect">
            <a:avLst/>
          </a:prstGeom>
          <a:noFill/>
        </p:spPr>
        <p:txBody>
          <a:bodyPr wrap="square" lIns="0" tIns="0" rIns="0" bIns="0">
            <a:spAutoFit/>
          </a:bodyPr>
          <a:lstStyle/>
          <a:p>
            <a:pPr algn="l">
              <a:lnSpc>
                <a:spcPts val="1800"/>
              </a:lnSpc>
            </a:pPr>
            <a:r>
              <a:rPr sz="1350" b="1" i="0">
                <a:solidFill>
                  <a:srgbClr val="B3121B"/>
                </a:solidFill>
                <a:latin typeface="Cambria"/>
              </a:rPr>
              <a:t>Rollout feedback finds what a human would never</a:t>
            </a:r>
          </a:p>
          <a:p>
            <a:pPr algn="l">
              <a:lnSpc>
                <a:spcPts val="1800"/>
              </a:lnSpc>
            </a:pPr>
            <a:r>
              <a:rPr sz="1350" b="1" i="0">
                <a:solidFill>
                  <a:srgbClr val="B3121B"/>
                </a:solidFill>
                <a:latin typeface="Cambria"/>
              </a:rPr>
              <a:t>guess. That is the actual contribution.</a:t>
            </a:r>
          </a:p>
        </p:txBody>
      </p:sp>
      <p:sp>
        <p:nvSpPr>
          <p:cNvPr id="13" name="TextBox 12"/>
          <p:cNvSpPr txBox="1"/>
          <p:nvPr/>
        </p:nvSpPr>
        <p:spPr>
          <a:xfrm>
            <a:off x="640080" y="6309360"/>
            <a:ext cx="10911535" cy="274320"/>
          </a:xfrm>
          <a:prstGeom prst="rect">
            <a:avLst/>
          </a:prstGeom>
          <a:noFill/>
        </p:spPr>
        <p:txBody>
          <a:bodyPr wrap="square" lIns="0" tIns="0" rIns="0" bIns="0">
            <a:spAutoFit/>
          </a:bodyPr>
          <a:lstStyle/>
          <a:p>
            <a:pPr algn="l"/>
            <a:r>
              <a:rPr sz="1000" b="0" i="1">
                <a:solidFill>
                  <a:srgbClr val="6E6E6E"/>
                </a:solidFill>
                <a:latin typeface="Arial"/>
              </a:rPr>
              <a:t>Averages computed across all six benchmarks from Table 1, direct chat.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40080" y="640080"/>
            <a:ext cx="10911535" cy="274320"/>
          </a:xfrm>
          <a:prstGeom prst="rect">
            <a:avLst/>
          </a:prstGeom>
          <a:noFill/>
        </p:spPr>
        <p:txBody>
          <a:bodyPr wrap="square" lIns="0" tIns="0" rIns="0" bIns="0">
            <a:spAutoFit/>
          </a:bodyPr>
          <a:lstStyle/>
          <a:p>
            <a:pPr algn="l"/>
            <a:r>
              <a:rPr sz="1200" b="1" i="0">
                <a:solidFill>
                  <a:srgbClr val="9A9A9A"/>
                </a:solidFill>
                <a:latin typeface="Arial"/>
              </a:rPr>
              <a:t>09 — VERDICT</a:t>
            </a:r>
          </a:p>
        </p:txBody>
      </p:sp>
      <p:sp>
        <p:nvSpPr>
          <p:cNvPr id="4" name="TextBox 3"/>
          <p:cNvSpPr txBox="1"/>
          <p:nvPr/>
        </p:nvSpPr>
        <p:spPr>
          <a:xfrm>
            <a:off x="640080" y="987552"/>
            <a:ext cx="10911535" cy="548640"/>
          </a:xfrm>
          <a:prstGeom prst="rect">
            <a:avLst/>
          </a:prstGeom>
          <a:noFill/>
        </p:spPr>
        <p:txBody>
          <a:bodyPr wrap="square" lIns="0" tIns="0" rIns="0" bIns="0">
            <a:spAutoFit/>
          </a:bodyPr>
          <a:lstStyle/>
          <a:p>
            <a:pPr algn="l"/>
            <a:r>
              <a:rPr sz="3200" b="1" i="0">
                <a:solidFill>
                  <a:srgbClr val="FFFFFF"/>
                </a:solidFill>
                <a:latin typeface="Cambria"/>
              </a:rPr>
              <a:t>Scoped, not dismissed</a:t>
            </a:r>
          </a:p>
        </p:txBody>
      </p:sp>
      <p:sp>
        <p:nvSpPr>
          <p:cNvPr id="5" name="Rectangle 4"/>
          <p:cNvSpPr/>
          <p:nvPr/>
        </p:nvSpPr>
        <p:spPr>
          <a:xfrm>
            <a:off x="640080" y="1828800"/>
            <a:ext cx="5440680" cy="3017520"/>
          </a:xfrm>
          <a:prstGeom prst="rect">
            <a:avLst/>
          </a:prstGeom>
          <a:solidFill>
            <a:srgbClr val="232323"/>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14400" y="2011680"/>
            <a:ext cx="4892040" cy="320040"/>
          </a:xfrm>
          <a:prstGeom prst="rect">
            <a:avLst/>
          </a:prstGeom>
          <a:noFill/>
        </p:spPr>
        <p:txBody>
          <a:bodyPr wrap="square" lIns="0" tIns="0" rIns="0" bIns="0">
            <a:spAutoFit/>
          </a:bodyPr>
          <a:lstStyle/>
          <a:p>
            <a:pPr algn="l"/>
            <a:r>
              <a:rPr sz="1900" b="1" i="0">
                <a:solidFill>
                  <a:srgbClr val="FFFFFF"/>
                </a:solidFill>
                <a:latin typeface="Cambria"/>
              </a:rPr>
              <a:t>Where it is not worth it</a:t>
            </a:r>
          </a:p>
        </p:txBody>
      </p:sp>
      <p:sp>
        <p:nvSpPr>
          <p:cNvPr id="7" name="TextBox 6"/>
          <p:cNvSpPr txBox="1"/>
          <p:nvPr/>
        </p:nvSpPr>
        <p:spPr>
          <a:xfrm>
            <a:off x="914400" y="2450592"/>
            <a:ext cx="4892040" cy="1737360"/>
          </a:xfrm>
          <a:prstGeom prst="rect">
            <a:avLst/>
          </a:prstGeom>
          <a:noFill/>
        </p:spPr>
        <p:txBody>
          <a:bodyPr wrap="square" lIns="0" tIns="0" rIns="0" bIns="0">
            <a:spAutoFit/>
          </a:bodyPr>
          <a:lstStyle/>
          <a:p>
            <a:pPr marL="182880" indent="-182880">
              <a:lnSpc>
                <a:spcPts val="1700"/>
              </a:lnSpc>
              <a:spcAft>
                <a:spcPts val="700"/>
              </a:spcAft>
              <a:buChar char="•"/>
            </a:pPr>
            <a:r>
              <a:rPr sz="1250">
                <a:solidFill>
                  <a:srgbClr val="C5C5C5"/>
                </a:solidFill>
                <a:latin typeface="Arial"/>
              </a:rPr>
              <a:t>Small, stable, well-understood domain</a:t>
            </a:r>
          </a:p>
          <a:p>
            <a:pPr marL="182880" indent="-182880">
              <a:lnSpc>
                <a:spcPts val="1700"/>
              </a:lnSpc>
              <a:spcAft>
                <a:spcPts val="700"/>
              </a:spcAft>
              <a:buChar char="•"/>
            </a:pPr>
            <a:r>
              <a:rPr sz="1250">
                <a:solidFill>
                  <a:srgbClr val="C5C5C5"/>
                </a:solidFill>
                <a:latin typeface="Arial"/>
              </a:rPr>
              <a:t>A domain expert is available</a:t>
            </a:r>
          </a:p>
          <a:p>
            <a:pPr marL="182880" indent="-182880">
              <a:lnSpc>
                <a:spcPts val="1700"/>
              </a:lnSpc>
              <a:spcAft>
                <a:spcPts val="700"/>
              </a:spcAft>
              <a:buChar char="•"/>
            </a:pPr>
            <a:r>
              <a:rPr sz="1250">
                <a:solidFill>
                  <a:srgbClr val="C5C5C5"/>
                </a:solidFill>
                <a:latin typeface="Arial"/>
              </a:rPr>
              <a:t>The target model is already strong</a:t>
            </a:r>
          </a:p>
          <a:p>
            <a:pPr marL="182880" indent="-182880">
              <a:lnSpc>
                <a:spcPts val="1700"/>
              </a:lnSpc>
              <a:spcAft>
                <a:spcPts val="700"/>
              </a:spcAft>
              <a:buChar char="•"/>
            </a:pPr>
            <a:r>
              <a:rPr sz="1250">
                <a:solidFill>
                  <a:srgbClr val="C5C5C5"/>
                </a:solidFill>
                <a:latin typeface="Arial"/>
              </a:rPr>
              <a:t>One prompt, not a fleet</a:t>
            </a:r>
          </a:p>
        </p:txBody>
      </p:sp>
      <p:sp>
        <p:nvSpPr>
          <p:cNvPr id="8" name="TextBox 7"/>
          <p:cNvSpPr txBox="1"/>
          <p:nvPr/>
        </p:nvSpPr>
        <p:spPr>
          <a:xfrm>
            <a:off x="914400" y="4160520"/>
            <a:ext cx="4892040" cy="594360"/>
          </a:xfrm>
          <a:prstGeom prst="rect">
            <a:avLst/>
          </a:prstGeom>
          <a:noFill/>
        </p:spPr>
        <p:txBody>
          <a:bodyPr wrap="square" lIns="0" tIns="0" rIns="0" bIns="0">
            <a:spAutoFit/>
          </a:bodyPr>
          <a:lstStyle/>
          <a:p>
            <a:pPr algn="l">
              <a:lnSpc>
                <a:spcPts val="1700"/>
              </a:lnSpc>
            </a:pPr>
            <a:r>
              <a:rPr sz="1250" b="1" i="0">
                <a:solidFill>
                  <a:srgbClr val="B3121B"/>
                </a:solidFill>
                <a:latin typeface="Arial"/>
              </a:rPr>
              <a:t>Hand-write it. Marginal value is low</a:t>
            </a:r>
          </a:p>
          <a:p>
            <a:pPr algn="l">
              <a:lnSpc>
                <a:spcPts val="1700"/>
              </a:lnSpc>
            </a:pPr>
            <a:r>
              <a:rPr sz="1250" b="1" i="0">
                <a:solidFill>
                  <a:srgbClr val="B3121B"/>
                </a:solidFill>
                <a:latin typeface="Arial"/>
              </a:rPr>
              <a:t>and the cost is absurd.</a:t>
            </a:r>
          </a:p>
        </p:txBody>
      </p:sp>
      <p:sp>
        <p:nvSpPr>
          <p:cNvPr id="9" name="Rectangle 8"/>
          <p:cNvSpPr/>
          <p:nvPr/>
        </p:nvSpPr>
        <p:spPr>
          <a:xfrm>
            <a:off x="6537960" y="1828800"/>
            <a:ext cx="5440680" cy="3017520"/>
          </a:xfrm>
          <a:prstGeom prst="rect">
            <a:avLst/>
          </a:prstGeom>
          <a:solidFill>
            <a:srgbClr val="232323"/>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812280" y="2011680"/>
            <a:ext cx="4892040" cy="320040"/>
          </a:xfrm>
          <a:prstGeom prst="rect">
            <a:avLst/>
          </a:prstGeom>
          <a:noFill/>
        </p:spPr>
        <p:txBody>
          <a:bodyPr wrap="square" lIns="0" tIns="0" rIns="0" bIns="0">
            <a:spAutoFit/>
          </a:bodyPr>
          <a:lstStyle/>
          <a:p>
            <a:pPr algn="l"/>
            <a:r>
              <a:rPr sz="1900" b="1" i="0">
                <a:solidFill>
                  <a:srgbClr val="FFFFFF"/>
                </a:solidFill>
                <a:latin typeface="Cambria"/>
              </a:rPr>
              <a:t>Where it earns its keep</a:t>
            </a:r>
          </a:p>
        </p:txBody>
      </p:sp>
      <p:sp>
        <p:nvSpPr>
          <p:cNvPr id="11" name="TextBox 10"/>
          <p:cNvSpPr txBox="1"/>
          <p:nvPr/>
        </p:nvSpPr>
        <p:spPr>
          <a:xfrm>
            <a:off x="6812280" y="2450592"/>
            <a:ext cx="4892040" cy="1737360"/>
          </a:xfrm>
          <a:prstGeom prst="rect">
            <a:avLst/>
          </a:prstGeom>
          <a:noFill/>
        </p:spPr>
        <p:txBody>
          <a:bodyPr wrap="square" lIns="0" tIns="0" rIns="0" bIns="0">
            <a:spAutoFit/>
          </a:bodyPr>
          <a:lstStyle/>
          <a:p>
            <a:pPr marL="182880" indent="-182880">
              <a:lnSpc>
                <a:spcPts val="1700"/>
              </a:lnSpc>
              <a:spcAft>
                <a:spcPts val="700"/>
              </a:spcAft>
              <a:buChar char="•"/>
            </a:pPr>
            <a:r>
              <a:rPr sz="1250">
                <a:solidFill>
                  <a:srgbClr val="C5C5C5"/>
                </a:solidFill>
                <a:latin typeface="Arial"/>
              </a:rPr>
              <a:t>Weak or small target model</a:t>
            </a:r>
          </a:p>
          <a:p>
            <a:pPr marL="182880" indent="-182880">
              <a:lnSpc>
                <a:spcPts val="1700"/>
              </a:lnSpc>
              <a:spcAft>
                <a:spcPts val="700"/>
              </a:spcAft>
              <a:buChar char="•"/>
            </a:pPr>
            <a:r>
              <a:rPr sz="1250">
                <a:solidFill>
                  <a:srgbClr val="C5C5C5"/>
                </a:solidFill>
                <a:latin typeface="Arial"/>
              </a:rPr>
              <a:t>The procedure is not in the weights</a:t>
            </a:r>
          </a:p>
          <a:p>
            <a:pPr marL="182880" indent="-182880">
              <a:lnSpc>
                <a:spcPts val="1700"/>
              </a:lnSpc>
              <a:spcAft>
                <a:spcPts val="700"/>
              </a:spcAft>
              <a:buChar char="•"/>
            </a:pPr>
            <a:r>
              <a:rPr sz="1250">
                <a:solidFill>
                  <a:srgbClr val="C5C5C5"/>
                </a:solidFill>
                <a:latin typeface="Arial"/>
              </a:rPr>
              <a:t>Qwen3.5-4B ALFWorld: 30.6 → 81.3</a:t>
            </a:r>
          </a:p>
          <a:p>
            <a:pPr marL="182880" indent="-182880">
              <a:lnSpc>
                <a:spcPts val="1700"/>
              </a:lnSpc>
              <a:spcAft>
                <a:spcPts val="700"/>
              </a:spcAft>
              <a:buChar char="•"/>
            </a:pPr>
            <a:r>
              <a:rPr sz="1250">
                <a:solidFill>
                  <a:srgbClr val="C5C5C5"/>
                </a:solidFill>
                <a:latin typeface="Arial"/>
              </a:rPr>
              <a:t>There, the human skill goes net negative</a:t>
            </a:r>
          </a:p>
        </p:txBody>
      </p:sp>
      <p:sp>
        <p:nvSpPr>
          <p:cNvPr id="12" name="TextBox 11"/>
          <p:cNvSpPr txBox="1"/>
          <p:nvPr/>
        </p:nvSpPr>
        <p:spPr>
          <a:xfrm>
            <a:off x="6812280" y="4160520"/>
            <a:ext cx="4892040" cy="594360"/>
          </a:xfrm>
          <a:prstGeom prst="rect">
            <a:avLst/>
          </a:prstGeom>
          <a:noFill/>
        </p:spPr>
        <p:txBody>
          <a:bodyPr wrap="square" lIns="0" tIns="0" rIns="0" bIns="0">
            <a:spAutoFit/>
          </a:bodyPr>
          <a:lstStyle/>
          <a:p>
            <a:pPr algn="l">
              <a:lnSpc>
                <a:spcPts val="1700"/>
              </a:lnSpc>
            </a:pPr>
            <a:r>
              <a:rPr sz="1250" b="1" i="0">
                <a:solidFill>
                  <a:srgbClr val="B3121B"/>
                </a:solidFill>
                <a:latin typeface="Arial"/>
              </a:rPr>
              <a:t>Train it. No baseline competes,</a:t>
            </a:r>
          </a:p>
          <a:p>
            <a:pPr algn="l">
              <a:lnSpc>
                <a:spcPts val="1700"/>
              </a:lnSpc>
            </a:pPr>
            <a:r>
              <a:rPr sz="1250" b="1" i="0">
                <a:solidFill>
                  <a:srgbClr val="B3121B"/>
                </a:solidFill>
                <a:latin typeface="Arial"/>
              </a:rPr>
              <a:t>and the margin is not noise.</a:t>
            </a:r>
          </a:p>
        </p:txBody>
      </p:sp>
      <p:sp>
        <p:nvSpPr>
          <p:cNvPr id="13" name="TextBox 12"/>
          <p:cNvSpPr txBox="1"/>
          <p:nvPr/>
        </p:nvSpPr>
        <p:spPr>
          <a:xfrm>
            <a:off x="640080" y="5074920"/>
            <a:ext cx="10911535" cy="731520"/>
          </a:xfrm>
          <a:prstGeom prst="rect">
            <a:avLst/>
          </a:prstGeom>
          <a:noFill/>
        </p:spPr>
        <p:txBody>
          <a:bodyPr wrap="square" lIns="0" tIns="0" rIns="0" bIns="0">
            <a:spAutoFit/>
          </a:bodyPr>
          <a:lstStyle/>
          <a:p>
            <a:pPr algn="l">
              <a:lnSpc>
                <a:spcPts val="1800"/>
              </a:lnSpc>
            </a:pPr>
            <a:r>
              <a:rPr sz="1350" b="0" i="0">
                <a:solidFill>
                  <a:srgbClr val="C5C5C5"/>
                </a:solidFill>
                <a:latin typeface="Arial"/>
              </a:rPr>
              <a:t>Their own Table 1 supports this split — and contradicts the framing of the method as the strongest</a:t>
            </a:r>
          </a:p>
          <a:p>
            <a:pPr algn="l">
              <a:lnSpc>
                <a:spcPts val="1800"/>
              </a:lnSpc>
            </a:pPr>
            <a:r>
              <a:rPr sz="1350" b="0" i="0">
                <a:solidFill>
                  <a:srgbClr val="C5C5C5"/>
                </a:solidFill>
                <a:latin typeface="Arial"/>
              </a:rPr>
              <a:t>no-weight-update adaptation strategy, unqualified.</a:t>
            </a:r>
          </a:p>
        </p:txBody>
      </p:sp>
      <p:sp>
        <p:nvSpPr>
          <p:cNvPr id="14" name="Rectangle 13"/>
          <p:cNvSpPr/>
          <p:nvPr/>
        </p:nvSpPr>
        <p:spPr>
          <a:xfrm>
            <a:off x="640080" y="5943600"/>
            <a:ext cx="3538728" cy="548640"/>
          </a:xfrm>
          <a:prstGeom prst="rect">
            <a:avLst/>
          </a:prstGeom>
          <a:solidFill>
            <a:srgbClr val="B31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7240" y="6080760"/>
            <a:ext cx="3264408" cy="365760"/>
          </a:xfrm>
          <a:prstGeom prst="rect">
            <a:avLst/>
          </a:prstGeom>
          <a:noFill/>
        </p:spPr>
        <p:txBody>
          <a:bodyPr wrap="square" lIns="0" tIns="0" rIns="0" bIns="0">
            <a:spAutoFit/>
          </a:bodyPr>
          <a:lstStyle/>
          <a:p>
            <a:pPr algn="ctr"/>
            <a:r>
              <a:rPr sz="1250" b="1" i="0">
                <a:solidFill>
                  <a:srgbClr val="FFFFFF"/>
                </a:solidFill>
                <a:latin typeface="Arial"/>
              </a:rPr>
              <a:t>Seed from the expert skill</a:t>
            </a:r>
          </a:p>
        </p:txBody>
      </p:sp>
      <p:sp>
        <p:nvSpPr>
          <p:cNvPr id="16" name="Rectangle 15"/>
          <p:cNvSpPr/>
          <p:nvPr/>
        </p:nvSpPr>
        <p:spPr>
          <a:xfrm>
            <a:off x="4325112" y="5943600"/>
            <a:ext cx="3538728" cy="548640"/>
          </a:xfrm>
          <a:prstGeom prst="rect">
            <a:avLst/>
          </a:prstGeom>
          <a:solidFill>
            <a:srgbClr val="B31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62272" y="6080760"/>
            <a:ext cx="3264408" cy="365760"/>
          </a:xfrm>
          <a:prstGeom prst="rect">
            <a:avLst/>
          </a:prstGeom>
          <a:noFill/>
        </p:spPr>
        <p:txBody>
          <a:bodyPr wrap="square" lIns="0" tIns="0" rIns="0" bIns="0">
            <a:spAutoFit/>
          </a:bodyPr>
          <a:lstStyle/>
          <a:p>
            <a:pPr algn="ctr"/>
            <a:r>
              <a:rPr sz="1250" b="1" i="0">
                <a:solidFill>
                  <a:srgbClr val="FFFFFF"/>
                </a:solidFill>
                <a:latin typeface="Arial"/>
              </a:rPr>
              <a:t>Add a length term to the gate</a:t>
            </a:r>
          </a:p>
        </p:txBody>
      </p:sp>
      <p:sp>
        <p:nvSpPr>
          <p:cNvPr id="18" name="Rectangle 17"/>
          <p:cNvSpPr/>
          <p:nvPr/>
        </p:nvSpPr>
        <p:spPr>
          <a:xfrm>
            <a:off x="8010144" y="5943600"/>
            <a:ext cx="3538728" cy="548640"/>
          </a:xfrm>
          <a:prstGeom prst="rect">
            <a:avLst/>
          </a:prstGeom>
          <a:solidFill>
            <a:srgbClr val="B312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47304" y="6080760"/>
            <a:ext cx="3264408" cy="365760"/>
          </a:xfrm>
          <a:prstGeom prst="rect">
            <a:avLst/>
          </a:prstGeom>
          <a:noFill/>
        </p:spPr>
        <p:txBody>
          <a:bodyPr wrap="square" lIns="0" tIns="0" rIns="0" bIns="0">
            <a:spAutoFit/>
          </a:bodyPr>
          <a:lstStyle/>
          <a:p>
            <a:pPr algn="ctr"/>
            <a:r>
              <a:rPr sz="1250" b="1" i="0">
                <a:solidFill>
                  <a:srgbClr val="FFFFFF"/>
                </a:solidFill>
                <a:latin typeface="Arial"/>
              </a:rPr>
              <a:t>Report variance and budget parity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2824</Words>
  <Application>Microsoft Office PowerPoint</Application>
  <PresentationFormat>Widescreen</PresentationFormat>
  <Paragraphs>407</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saruj chutapornpong</cp:lastModifiedBy>
  <cp:revision>8</cp:revision>
  <dcterms:created xsi:type="dcterms:W3CDTF">2026-07-30T22:54:25Z</dcterms:created>
  <dcterms:modified xsi:type="dcterms:W3CDTF">2026-07-31T01:53:35Z</dcterms:modified>
</cp:coreProperties>
</file>